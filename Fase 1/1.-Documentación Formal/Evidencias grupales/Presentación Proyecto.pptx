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días/tardes. Somos el equipo BARB y vamos a presentar la definición de nuestro Proyecto APT de Capstone. BARB es una plataforma inteligente de mantenimiento industrial. En esta presentación mostraremos primero el problema y la solución general, luego el estado actual del aplicativo y finalmente el foco del semestre: PWA para tablets, RAG offline, reportes PDF gerenciales y auditoría funcional. La idea principal es que no estamos partiendo desde una pantalla aislada, sino desde un proyecto integral de Ingeniería en Informática.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debemos explicar el problema de negocio. En mantenimiento industrial el técnico normalmente está en terreno, no sentado frente a un escritorio. Necesita consultar manuales, crear órdenes de trabajo, sacar fotografías y registrar lo que hizo. Si la información está dispersa o no hay trazabilidad, la gestión se vuelve lenta y poco confiable. La oportunidad es aplicar TIC para centralizar información, apoyar el diagnóstico con IA, entregar KPIs a gerencia y dejar evidencia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muestra que BARB no es solo una mejora puntual. Es una plataforma con módulos: asistente documental, topología, historial, dashboard KPI, carga documental y órdenes de trabajo. Para Duoc es importante mostrar el proyecto general porque permite evidenciar una solución de ingeniería completa. Luego acotaremos qué parte desarrollará nuestro equipo durante 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aquí es dejar claro qué existe actualmente. Vemos dashboard KPI, órdenes de trabajo con filtros y exportación, asistente documental, carga de documentos e historial. Esto es importante porque nuestra entrega no debe presentar como propio lo que ya existe. Lo que haremos es evolucionar esta base hacia una operación más móvil, más resiliente y más trazable.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esta parte explicamos la arquitectura funcional. BARB integra frontend, API backend, datos e IA/RAG. Eso conecta con las competencias de la carrera: no es solamente programar, también es diseñar datos, integrar servicios, gestionar el proyecto, aplicar pruebas y asegurar trazabilidad. El componente emergente es la IA/RAG aplicada a documentación técnica y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clave del alcance. Debemos decir que el equipo se enfocará en cuatro frentes: PWA/movilidad, RAG offline, reportes PDF y auditoría. También aclaramos que el RAG offline no implica obligatoriamente un LLM local; lo importante es asegurar recuperación de información técnica cuando falle la conexión o el servicio principal. Esta separación evita scope creep y permite demostrar avances por incremento.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movilidad, el foco no es crear una app nativa. La recomendación es una PWA porque cubre tablets iOS y Android sin publicar en tiendas. Lo más importante es la continuidad operacional: si el técnico crea una OT o toma una foto sin conexión, la información se guarda localmente, queda en una cola y se sincroniza cuando vuelve la red. Para evitar duplicados se usarían UUID e idempotencia; para evitar pérdida de cambios críticos, control de versión o updated_at.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RAG offline debemos ser precisos. Offline no significa necesariamente ejecutar un modelo grande en la tablet. La necesidad es que el técnico pueda recuperar información técnica útil de manuales previamente preparados cuando no exista internet o falle el servicio principal. La implementación puede evaluar embeddings, almacenamiento local, búsqueda semántica o mecanismos híbridos. La tecnología definitiva se decidirá luego de pruebas, porque debe funcionar en dispositivos reales y con límites de almacenamiento.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reportabilidad, ya existe una base de KPIs y exportación. El aporte Capstone es transformar esa información en un PDF gerencial. No se trata solo de listar estados, sino de entregar un informe ejecutivo con KPIs, tendencias, ranking de máquinas e incidencias. Debe servir para reuniones, correos y toma de decisiones. Los filtros se alinean con lo solicitado por la contraparte: planta o site, piso o zona si corresponde, máquina, status, incidente u 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auditoría es un punto crítico porque BARB maneja acciones que afectan mantenimiento, usuarios y documentación. La trazabilidad debe cubrir procesos importantes: orden de trabajo, creación y modificación de usuarios, cargas, descargas y acciones críticas de plataforma. En cada evento necesitamos al menos usuario, tenant o empresa, fecha y hora, acción, entidad afectada, resultado y metadata disponible. Esto no es solo una mejora técnica; es un requisito de control y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explicamos cómo se gestionará el proyecto. La metodología será Incremental + Scrumban, con liderazgo de Luis, reuniones semanales y trabajo sobre un fork privado único. Los incrementos serán diseño, PWA, RAG offline, PDF KPI, auditoría e integración/pruebas. El mensaje final para la evaluación es que BARB es un proyecto integral de ingeniería informática y que nuestro aporte está acotado, es trazable y tiene valor para la operación y la gerencia.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502920" y="502920"/>
            <a:ext cx="1143000" cy="438912"/>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2400" b="1" dirty="0">
                <a:solidFill>
                  <a:srgbClr val="1F2937"/>
                </a:solidFill>
              </a:rPr>
              <a:t>BARB</a:t>
            </a:r>
            <a:endParaRPr lang="en-US" sz="2400" dirty="0"/>
          </a:p>
        </p:txBody>
      </p:sp>
      <p:sp>
        <p:nvSpPr>
          <p:cNvPr id="3" name="Text 1"/>
          <p:cNvSpPr/>
          <p:nvPr/>
        </p:nvSpPr>
        <p:spPr>
          <a:xfrm>
            <a:off x="594360" y="1353312"/>
            <a:ext cx="5212080" cy="1051560"/>
          </a:xfrm>
          <a:prstGeom prst="rect">
            <a:avLst/>
          </a:prstGeom>
          <a:noFill/>
          <a:ln/>
        </p:spPr>
        <p:txBody>
          <a:bodyPr wrap="square" lIns="0" tIns="0" rIns="0" bIns="0" rtlCol="0" anchor="ctr">
            <a:normAutofit/>
          </a:bodyPr>
          <a:lstStyle/>
          <a:p>
            <a:pPr indent="0" marL="0">
              <a:buNone/>
            </a:pPr>
            <a:r>
              <a:rPr lang="en-US" sz="3100" b="1" dirty="0">
                <a:solidFill>
                  <a:srgbClr val="1F2937"/>
                </a:solidFill>
              </a:rPr>
              <a:t>Plataforma Inteligente de</a:t>
            </a:r>
            <a:endParaRPr lang="en-US" sz="3100" dirty="0"/>
          </a:p>
          <a:p>
            <a:pPr indent="0" marL="0">
              <a:buNone/>
            </a:pPr>
            <a:r>
              <a:rPr lang="en-US" sz="3100" b="1" dirty="0">
                <a:solidFill>
                  <a:srgbClr val="1F2937"/>
                </a:solidFill>
              </a:rPr>
              <a:t>Mantenimiento Industrial</a:t>
            </a:r>
            <a:endParaRPr lang="en-US" sz="3100" dirty="0"/>
          </a:p>
        </p:txBody>
      </p:sp>
      <p:sp>
        <p:nvSpPr>
          <p:cNvPr id="4" name="Shape 2"/>
          <p:cNvSpPr/>
          <p:nvPr/>
        </p:nvSpPr>
        <p:spPr>
          <a:xfrm>
            <a:off x="594360" y="2578608"/>
            <a:ext cx="3749040" cy="0"/>
          </a:xfrm>
          <a:prstGeom prst="line">
            <a:avLst/>
          </a:prstGeom>
          <a:noFill/>
          <a:ln w="38100">
            <a:solidFill>
              <a:srgbClr val="E07800"/>
            </a:solidFill>
            <a:prstDash val="solid"/>
          </a:ln>
        </p:spPr>
      </p:sp>
      <p:sp>
        <p:nvSpPr>
          <p:cNvPr id="5" name="Text 3"/>
          <p:cNvSpPr/>
          <p:nvPr/>
        </p:nvSpPr>
        <p:spPr>
          <a:xfrm>
            <a:off x="603504" y="2816352"/>
            <a:ext cx="4572000" cy="228600"/>
          </a:xfrm>
          <a:prstGeom prst="rect">
            <a:avLst/>
          </a:prstGeom>
          <a:noFill/>
          <a:ln/>
        </p:spPr>
        <p:txBody>
          <a:bodyPr wrap="square" lIns="0" tIns="0" rIns="0" bIns="0" rtlCol="0" anchor="ctr"/>
          <a:lstStyle/>
          <a:p>
            <a:pPr indent="0" marL="0">
              <a:buNone/>
            </a:pPr>
            <a:r>
              <a:rPr lang="en-US" sz="1250" dirty="0">
                <a:solidFill>
                  <a:srgbClr val="6B7280"/>
                </a:solidFill>
              </a:rPr>
              <a:t>Primera evaluación Capstone | Ingeniería en Informática</a:t>
            </a:r>
            <a:endParaRPr lang="en-US" sz="1250" dirty="0"/>
          </a:p>
        </p:txBody>
      </p:sp>
      <p:sp>
        <p:nvSpPr>
          <p:cNvPr id="6" name="Text 4"/>
          <p:cNvSpPr/>
          <p:nvPr/>
        </p:nvSpPr>
        <p:spPr>
          <a:xfrm>
            <a:off x="603504" y="5321808"/>
            <a:ext cx="4846320" cy="566928"/>
          </a:xfrm>
          <a:prstGeom prst="rect">
            <a:avLst/>
          </a:prstGeom>
          <a:noFill/>
          <a:ln/>
        </p:spPr>
        <p:txBody>
          <a:bodyPr wrap="square" lIns="254" tIns="254" rIns="254" bIns="254" rtlCol="0" anchor="ctr"/>
          <a:lstStyle/>
          <a:p>
            <a:pPr indent="0" marL="0">
              <a:buNone/>
            </a:pPr>
            <a:r>
              <a:rPr lang="en-US" sz="1150" dirty="0">
                <a:solidFill>
                  <a:srgbClr val="1F2937"/>
                </a:solidFill>
              </a:rPr>
              <a:t>Equipo: Luis Ovalle, Jorge Valdenegro y Miguel Sotor</a:t>
            </a:r>
            <a:endParaRPr lang="en-US" sz="1150" dirty="0"/>
          </a:p>
          <a:p>
            <a:pPr indent="0" marL="0">
              <a:buNone/>
            </a:pPr>
            <a:r>
              <a:rPr lang="en-US" sz="1150" dirty="0">
                <a:solidFill>
                  <a:srgbClr val="1F2937"/>
                </a:solidFill>
              </a:rPr>
              <a:t>Líder y repositorio: Luis Ovalle</a:t>
            </a:r>
            <a:endParaRPr lang="en-US" sz="1150" dirty="0"/>
          </a:p>
          <a:p>
            <a:pPr indent="0" marL="0">
              <a:buNone/>
            </a:pPr>
            <a:r>
              <a:rPr lang="en-US" sz="1150" dirty="0">
                <a:solidFill>
                  <a:srgbClr val="1F2937"/>
                </a:solidFill>
              </a:rPr>
              <a:t>Metodología: Incremental + Scrumban</a:t>
            </a:r>
            <a:endParaRPr lang="en-US" sz="1150" dirty="0"/>
          </a:p>
        </p:txBody>
      </p:sp>
      <p:pic>
        <p:nvPicPr>
          <p:cNvPr id="7" name="Image 0" descr="/mnt/data/barb_split/media/image13.png">    </p:cNvPr>
          <p:cNvPicPr>
            <a:picLocks noChangeAspect="1"/>
          </p:cNvPicPr>
          <p:nvPr/>
        </p:nvPicPr>
        <p:blipFill>
          <a:blip r:embed="rId1"/>
          <a:srcRect l="22326" r="22326" t="0" b="0"/>
          <a:stretch/>
        </p:blipFill>
        <p:spPr>
          <a:xfrm>
            <a:off x="5989320" y="868680"/>
            <a:ext cx="5806440" cy="4297680"/>
          </a:xfrm>
          <a:prstGeom prst="rect">
            <a:avLst/>
          </a:prstGeom>
        </p:spPr>
      </p:pic>
      <p:sp>
        <p:nvSpPr>
          <p:cNvPr id="8" name="Text 5"/>
          <p:cNvSpPr/>
          <p:nvPr/>
        </p:nvSpPr>
        <p:spPr>
          <a:xfrm>
            <a:off x="6080760" y="5349240"/>
            <a:ext cx="5394960" cy="256032"/>
          </a:xfrm>
          <a:prstGeom prst="rect">
            <a:avLst/>
          </a:prstGeom>
          <a:noFill/>
          <a:ln/>
        </p:spPr>
        <p:txBody>
          <a:bodyPr wrap="square" lIns="0" tIns="0" rIns="0" bIns="0" rtlCol="0" anchor="ctr"/>
          <a:lstStyle/>
          <a:p>
            <a:pPr algn="ctr" indent="0" marL="0">
              <a:buNone/>
            </a:pPr>
            <a:r>
              <a:rPr lang="en-US" sz="1200" b="1" dirty="0">
                <a:solidFill>
                  <a:srgbClr val="1F4E79"/>
                </a:solidFill>
              </a:rPr>
              <a:t>PWA / Tablets   ·   RAG offline   ·   PDF KPI   ·   Auditoría</a:t>
            </a:r>
            <a:endParaRPr lang="en-US" sz="1200" dirty="0"/>
          </a:p>
        </p:txBody>
      </p:sp>
      <p:sp>
        <p:nvSpPr>
          <p:cNvPr id="9" name="Text 6"/>
          <p:cNvSpPr/>
          <p:nvPr/>
        </p:nvSpPr>
        <p:spPr>
          <a:xfrm>
            <a:off x="6080760" y="5650992"/>
            <a:ext cx="5394960" cy="201168"/>
          </a:xfrm>
          <a:prstGeom prst="rect">
            <a:avLst/>
          </a:prstGeom>
          <a:noFill/>
          <a:ln/>
        </p:spPr>
        <p:txBody>
          <a:bodyPr wrap="square" lIns="0" tIns="0" rIns="0" bIns="0" rtlCol="0" anchor="ctr"/>
          <a:lstStyle/>
          <a:p>
            <a:pPr algn="ctr" indent="0" marL="0">
              <a:buNone/>
            </a:pPr>
            <a:r>
              <a:rPr lang="en-US" sz="950" i="1" dirty="0">
                <a:solidFill>
                  <a:srgbClr val="6B7280"/>
                </a:solidFill>
              </a:rPr>
              <a:t>Dashboard KPI administrador (AS-IS)</a:t>
            </a:r>
            <a:endParaRPr lang="en-US" sz="950" dirty="0"/>
          </a:p>
        </p:txBody>
      </p:sp>
      <p:sp>
        <p:nvSpPr>
          <p:cNvPr id="10" name="Text 7"/>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11" name="Text 8"/>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1</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CONTEXTO</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Problema y oportunidad del proyecto</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2</a:t>
            </a:r>
            <a:endParaRPr lang="en-US" sz="780" dirty="0"/>
          </a:p>
        </p:txBody>
      </p:sp>
      <p:sp>
        <p:nvSpPr>
          <p:cNvPr id="8" name="Text 6"/>
          <p:cNvSpPr/>
          <p:nvPr/>
        </p:nvSpPr>
        <p:spPr>
          <a:xfrm>
            <a:off x="548640" y="1170432"/>
            <a:ext cx="5029200" cy="685800"/>
          </a:xfrm>
          <a:prstGeom prst="rect">
            <a:avLst/>
          </a:prstGeom>
          <a:noFill/>
          <a:ln/>
        </p:spPr>
        <p:txBody>
          <a:bodyPr wrap="square" lIns="254" tIns="254" rIns="254" bIns="254" rtlCol="0" anchor="t">
            <a:normAutofit/>
          </a:bodyPr>
          <a:lstStyle/>
          <a:p>
            <a:pPr algn="l" indent="0" marL="0">
              <a:buNone/>
            </a:pPr>
            <a:r>
              <a:rPr lang="en-US" sz="2300" b="1" dirty="0">
                <a:solidFill>
                  <a:srgbClr val="1F2937"/>
                </a:solidFill>
              </a:rPr>
              <a:t>El mantenimiento industrial necesita continuidad, información confiable y trazabilidad.</a:t>
            </a:r>
            <a:endParaRPr lang="en-US" sz="2300" dirty="0"/>
          </a:p>
        </p:txBody>
      </p:sp>
      <p:sp>
        <p:nvSpPr>
          <p:cNvPr id="9" name="Text 7"/>
          <p:cNvSpPr/>
          <p:nvPr/>
        </p:nvSpPr>
        <p:spPr>
          <a:xfrm>
            <a:off x="594360" y="2148840"/>
            <a:ext cx="3383280" cy="1234440"/>
          </a:xfrm>
          <a:prstGeom prst="rect">
            <a:avLst/>
          </a:prstGeom>
          <a:solidFill>
            <a:srgbClr val="FDECEC"/>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Dolor operativo</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Información técnica dispersa, dependencia del conocimiento experto y registros incompletos.</a:t>
            </a:r>
            <a:endParaRPr lang="en-US" sz="1220" dirty="0"/>
          </a:p>
        </p:txBody>
      </p:sp>
      <p:sp>
        <p:nvSpPr>
          <p:cNvPr id="10" name="Shape 8"/>
          <p:cNvSpPr/>
          <p:nvPr/>
        </p:nvSpPr>
        <p:spPr>
          <a:xfrm>
            <a:off x="594360" y="3346704"/>
            <a:ext cx="3383280" cy="0"/>
          </a:xfrm>
          <a:prstGeom prst="line">
            <a:avLst/>
          </a:prstGeom>
          <a:noFill/>
          <a:ln w="25400">
            <a:solidFill>
              <a:srgbClr val="C62828"/>
            </a:solidFill>
            <a:prstDash val="solid"/>
          </a:ln>
        </p:spPr>
      </p:sp>
      <p:sp>
        <p:nvSpPr>
          <p:cNvPr id="11" name="Text 9"/>
          <p:cNvSpPr/>
          <p:nvPr/>
        </p:nvSpPr>
        <p:spPr>
          <a:xfrm>
            <a:off x="4389120" y="2148840"/>
            <a:ext cx="3383280" cy="1234440"/>
          </a:xfrm>
          <a:prstGeom prst="rect">
            <a:avLst/>
          </a:prstGeom>
          <a:solidFill>
            <a:srgbClr val="FFF2E1"/>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Impacto</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Detenciones, reprocesos, tiempos muertos, baja disponibilidad y decisiones con datos fragmentados.</a:t>
            </a:r>
            <a:endParaRPr lang="en-US" sz="1220" dirty="0"/>
          </a:p>
        </p:txBody>
      </p:sp>
      <p:sp>
        <p:nvSpPr>
          <p:cNvPr id="12" name="Shape 10"/>
          <p:cNvSpPr/>
          <p:nvPr/>
        </p:nvSpPr>
        <p:spPr>
          <a:xfrm>
            <a:off x="4389120" y="3346704"/>
            <a:ext cx="3383280" cy="0"/>
          </a:xfrm>
          <a:prstGeom prst="line">
            <a:avLst/>
          </a:prstGeom>
          <a:noFill/>
          <a:ln w="25400">
            <a:solidFill>
              <a:srgbClr val="E07800"/>
            </a:solidFill>
            <a:prstDash val="solid"/>
          </a:ln>
        </p:spPr>
      </p:sp>
      <p:sp>
        <p:nvSpPr>
          <p:cNvPr id="13" name="Text 11"/>
          <p:cNvSpPr/>
          <p:nvPr/>
        </p:nvSpPr>
        <p:spPr>
          <a:xfrm>
            <a:off x="8183880" y="2148840"/>
            <a:ext cx="3383280" cy="1234440"/>
          </a:xfrm>
          <a:prstGeom prst="rect">
            <a:avLst/>
          </a:prstGeom>
          <a:solidFill>
            <a:srgbClr val="EAF2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Oportunidad TIC</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Centralizar OT, documentación, IA, KPIs, topología y auditoría en una plataforma integrada por APIs.</a:t>
            </a:r>
            <a:endParaRPr lang="en-US" sz="1220" dirty="0"/>
          </a:p>
        </p:txBody>
      </p:sp>
      <p:sp>
        <p:nvSpPr>
          <p:cNvPr id="14" name="Shape 12"/>
          <p:cNvSpPr/>
          <p:nvPr/>
        </p:nvSpPr>
        <p:spPr>
          <a:xfrm>
            <a:off x="8183880" y="3346704"/>
            <a:ext cx="3383280" cy="0"/>
          </a:xfrm>
          <a:prstGeom prst="line">
            <a:avLst/>
          </a:prstGeom>
          <a:noFill/>
          <a:ln w="25400">
            <a:solidFill>
              <a:srgbClr val="2563EB"/>
            </a:solidFill>
            <a:prstDash val="solid"/>
          </a:ln>
        </p:spPr>
      </p:sp>
      <p:sp>
        <p:nvSpPr>
          <p:cNvPr id="15" name="Text 13"/>
          <p:cNvSpPr/>
          <p:nvPr/>
        </p:nvSpPr>
        <p:spPr>
          <a:xfrm>
            <a:off x="640080" y="4206240"/>
            <a:ext cx="1828800" cy="164592"/>
          </a:xfrm>
          <a:prstGeom prst="rect">
            <a:avLst/>
          </a:prstGeom>
          <a:noFill/>
          <a:ln/>
        </p:spPr>
        <p:txBody>
          <a:bodyPr wrap="square" lIns="0" tIns="0" rIns="0" bIns="0" rtlCol="0" anchor="ctr"/>
          <a:lstStyle/>
          <a:p>
            <a:pPr indent="0" marL="0">
              <a:buNone/>
            </a:pPr>
            <a:r>
              <a:rPr lang="en-US" sz="800" b="1" dirty="0">
                <a:solidFill>
                  <a:srgbClr val="E07800"/>
                </a:solidFill>
              </a:rPr>
              <a:t>POR QUÉ ES I+D+I</a:t>
            </a:r>
            <a:endParaRPr lang="en-US" sz="800" dirty="0"/>
          </a:p>
        </p:txBody>
      </p:sp>
      <p:sp>
        <p:nvSpPr>
          <p:cNvPr id="16" name="Text 14"/>
          <p:cNvSpPr/>
          <p:nvPr/>
        </p:nvSpPr>
        <p:spPr>
          <a:xfrm>
            <a:off x="685800" y="4526280"/>
            <a:ext cx="493776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Cliente/contraparte real y problemática industrial vigente.</a:t>
            </a:r>
            <a:endParaRPr lang="en-US" sz="1300" dirty="0"/>
          </a:p>
        </p:txBody>
      </p:sp>
      <p:sp>
        <p:nvSpPr>
          <p:cNvPr id="17" name="Text 15"/>
          <p:cNvSpPr/>
          <p:nvPr/>
        </p:nvSpPr>
        <p:spPr>
          <a:xfrm>
            <a:off x="685800" y="4882896"/>
            <a:ext cx="502920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Combina software, datos, IA/RAG, reportes y trazabilidad.</a:t>
            </a:r>
            <a:endParaRPr lang="en-US" sz="1300" dirty="0"/>
          </a:p>
        </p:txBody>
      </p:sp>
      <p:sp>
        <p:nvSpPr>
          <p:cNvPr id="18" name="Text 16"/>
          <p:cNvSpPr/>
          <p:nvPr/>
        </p:nvSpPr>
        <p:spPr>
          <a:xfrm>
            <a:off x="685800" y="5239512"/>
            <a:ext cx="539496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Evalúa diseño, gestión, pruebas, integración y valor de negocio.</a:t>
            </a:r>
            <a:endParaRPr lang="en-US" sz="1300" dirty="0"/>
          </a:p>
        </p:txBody>
      </p:sp>
      <p:sp>
        <p:nvSpPr>
          <p:cNvPr id="19" name="Text 17"/>
          <p:cNvSpPr/>
          <p:nvPr/>
        </p:nvSpPr>
        <p:spPr>
          <a:xfrm>
            <a:off x="6492240" y="4206240"/>
            <a:ext cx="1828800" cy="164592"/>
          </a:xfrm>
          <a:prstGeom prst="rect">
            <a:avLst/>
          </a:prstGeom>
          <a:noFill/>
          <a:ln/>
        </p:spPr>
        <p:txBody>
          <a:bodyPr wrap="square" lIns="0" tIns="0" rIns="0" bIns="0" rtlCol="0" anchor="ctr"/>
          <a:lstStyle/>
          <a:p>
            <a:pPr indent="0" marL="0">
              <a:buNone/>
            </a:pPr>
            <a:r>
              <a:rPr lang="en-US" sz="800" b="1" dirty="0">
                <a:solidFill>
                  <a:srgbClr val="059669"/>
                </a:solidFill>
              </a:rPr>
              <a:t>MENSAJE CLAVE</a:t>
            </a:r>
            <a:endParaRPr lang="en-US" sz="800" dirty="0"/>
          </a:p>
        </p:txBody>
      </p:sp>
      <p:sp>
        <p:nvSpPr>
          <p:cNvPr id="20" name="Text 18"/>
          <p:cNvSpPr/>
          <p:nvPr/>
        </p:nvSpPr>
        <p:spPr>
          <a:xfrm>
            <a:off x="6492240" y="4526280"/>
            <a:ext cx="4983480" cy="868680"/>
          </a:xfrm>
          <a:prstGeom prst="rect">
            <a:avLst/>
          </a:prstGeom>
          <a:noFill/>
          <a:ln/>
        </p:spPr>
        <p:txBody>
          <a:bodyPr wrap="square" lIns="254" tIns="254" rIns="254" bIns="254" rtlCol="0" anchor="t">
            <a:normAutofit/>
          </a:bodyPr>
          <a:lstStyle/>
          <a:p>
            <a:pPr algn="l" indent="0" marL="0">
              <a:buNone/>
            </a:pPr>
            <a:r>
              <a:rPr lang="en-US" sz="1500" b="1" dirty="0">
                <a:solidFill>
                  <a:srgbClr val="1F2937"/>
                </a:solidFill>
              </a:rPr>
              <a:t>BARB busca reducir la brecha entre el trabajo real en planta y la información digital disponible para decidir, ejecutar y auditar.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VISIÓN GENERAL</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BARB como solución integral</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3</a:t>
            </a:r>
            <a:endParaRPr lang="en-US" sz="780" dirty="0"/>
          </a:p>
        </p:txBody>
      </p:sp>
      <p:sp>
        <p:nvSpPr>
          <p:cNvPr id="8" name="Text 6"/>
          <p:cNvSpPr/>
          <p:nvPr/>
        </p:nvSpPr>
        <p:spPr>
          <a:xfrm>
            <a:off x="548640" y="1097280"/>
            <a:ext cx="3291840" cy="566928"/>
          </a:xfrm>
          <a:prstGeom prst="rect">
            <a:avLst/>
          </a:prstGeom>
          <a:noFill/>
          <a:ln/>
        </p:spPr>
        <p:txBody>
          <a:bodyPr wrap="square" lIns="254" tIns="254" rIns="254" bIns="254" rtlCol="0" anchor="t">
            <a:normAutofit/>
          </a:bodyPr>
          <a:lstStyle/>
          <a:p>
            <a:pPr algn="l" indent="0" marL="0">
              <a:buNone/>
            </a:pPr>
            <a:r>
              <a:rPr lang="en-US" sz="1600" b="1" dirty="0">
                <a:solidFill>
                  <a:srgbClr val="1F2937"/>
                </a:solidFill>
              </a:rPr>
              <a:t>Antes de delimitar el Capstone, se presenta BARB como un proyecto completo de Ingeniería en Informática.</a:t>
            </a:r>
            <a:endParaRPr lang="en-US" sz="1600" dirty="0"/>
          </a:p>
        </p:txBody>
      </p:sp>
      <p:sp>
        <p:nvSpPr>
          <p:cNvPr id="9" name="Text 7"/>
          <p:cNvSpPr/>
          <p:nvPr/>
        </p:nvSpPr>
        <p:spPr>
          <a:xfrm>
            <a:off x="594360" y="1874520"/>
            <a:ext cx="274320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Asistente documental</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Consulta manuales y procedimientos técnicos.</a:t>
            </a:r>
            <a:endParaRPr lang="en-US" sz="1220" dirty="0"/>
          </a:p>
        </p:txBody>
      </p:sp>
      <p:sp>
        <p:nvSpPr>
          <p:cNvPr id="10" name="Shape 8"/>
          <p:cNvSpPr/>
          <p:nvPr/>
        </p:nvSpPr>
        <p:spPr>
          <a:xfrm>
            <a:off x="594360" y="2706624"/>
            <a:ext cx="2743200" cy="0"/>
          </a:xfrm>
          <a:prstGeom prst="line">
            <a:avLst/>
          </a:prstGeom>
          <a:noFill/>
          <a:ln w="25400">
            <a:solidFill>
              <a:srgbClr val="2563EB"/>
            </a:solidFill>
            <a:prstDash val="solid"/>
          </a:ln>
        </p:spPr>
      </p:sp>
      <p:sp>
        <p:nvSpPr>
          <p:cNvPr id="11" name="Text 9"/>
          <p:cNvSpPr/>
          <p:nvPr/>
        </p:nvSpPr>
        <p:spPr>
          <a:xfrm>
            <a:off x="594360" y="2971800"/>
            <a:ext cx="274320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Topología de planta</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Visualiza plantas, disciplinas y máquinas.</a:t>
            </a:r>
            <a:endParaRPr lang="en-US" sz="1220" dirty="0"/>
          </a:p>
        </p:txBody>
      </p:sp>
      <p:sp>
        <p:nvSpPr>
          <p:cNvPr id="12" name="Shape 10"/>
          <p:cNvSpPr/>
          <p:nvPr/>
        </p:nvSpPr>
        <p:spPr>
          <a:xfrm>
            <a:off x="594360" y="3803904"/>
            <a:ext cx="2743200" cy="0"/>
          </a:xfrm>
          <a:prstGeom prst="line">
            <a:avLst/>
          </a:prstGeom>
          <a:noFill/>
          <a:ln w="25400">
            <a:solidFill>
              <a:srgbClr val="059669"/>
            </a:solidFill>
            <a:prstDash val="solid"/>
          </a:ln>
        </p:spPr>
      </p:sp>
      <p:sp>
        <p:nvSpPr>
          <p:cNvPr id="13" name="Text 11"/>
          <p:cNvSpPr/>
          <p:nvPr/>
        </p:nvSpPr>
        <p:spPr>
          <a:xfrm>
            <a:off x="594360" y="4069080"/>
            <a:ext cx="274320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Historial de diagnósticos</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Registra consultas y diagnósticos previos.</a:t>
            </a:r>
            <a:endParaRPr lang="en-US" sz="1220" dirty="0"/>
          </a:p>
        </p:txBody>
      </p:sp>
      <p:sp>
        <p:nvSpPr>
          <p:cNvPr id="14" name="Shape 12"/>
          <p:cNvSpPr/>
          <p:nvPr/>
        </p:nvSpPr>
        <p:spPr>
          <a:xfrm>
            <a:off x="594360" y="4901184"/>
            <a:ext cx="2743200" cy="0"/>
          </a:xfrm>
          <a:prstGeom prst="line">
            <a:avLst/>
          </a:prstGeom>
          <a:noFill/>
          <a:ln w="25400">
            <a:solidFill>
              <a:srgbClr val="6D28D9"/>
            </a:solidFill>
            <a:prstDash val="solid"/>
          </a:ln>
        </p:spPr>
      </p:sp>
      <p:sp>
        <p:nvSpPr>
          <p:cNvPr id="15" name="Text 13"/>
          <p:cNvSpPr/>
          <p:nvPr/>
        </p:nvSpPr>
        <p:spPr>
          <a:xfrm>
            <a:off x="594360" y="5166360"/>
            <a:ext cx="274320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Dashboard KPI</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Métricas, costos, backlog, MTTR y MTBF.</a:t>
            </a:r>
            <a:endParaRPr lang="en-US" sz="1220" dirty="0"/>
          </a:p>
        </p:txBody>
      </p:sp>
      <p:sp>
        <p:nvSpPr>
          <p:cNvPr id="16" name="Shape 14"/>
          <p:cNvSpPr/>
          <p:nvPr/>
        </p:nvSpPr>
        <p:spPr>
          <a:xfrm>
            <a:off x="594360" y="5998464"/>
            <a:ext cx="2743200" cy="0"/>
          </a:xfrm>
          <a:prstGeom prst="line">
            <a:avLst/>
          </a:prstGeom>
          <a:noFill/>
          <a:ln w="25400">
            <a:solidFill>
              <a:srgbClr val="E07800"/>
            </a:solidFill>
            <a:prstDash val="solid"/>
          </a:ln>
        </p:spPr>
      </p:sp>
      <p:pic>
        <p:nvPicPr>
          <p:cNvPr id="17" name="Image 0" descr="/mnt/data/barb_split/media/image17.png">    </p:cNvPr>
          <p:cNvPicPr>
            <a:picLocks noChangeAspect="1"/>
          </p:cNvPicPr>
          <p:nvPr/>
        </p:nvPicPr>
        <p:blipFill>
          <a:blip r:embed="rId1"/>
          <a:srcRect l="7465" r="7465" t="0" b="0"/>
          <a:stretch/>
        </p:blipFill>
        <p:spPr>
          <a:xfrm>
            <a:off x="3931920" y="1417320"/>
            <a:ext cx="3749040" cy="4297680"/>
          </a:xfrm>
          <a:prstGeom prst="rect">
            <a:avLst/>
          </a:prstGeom>
        </p:spPr>
      </p:pic>
      <p:pic>
        <p:nvPicPr>
          <p:cNvPr id="18" name="Image 1" descr="/mnt/data/barb_split/media/image21.png">    </p:cNvPr>
          <p:cNvPicPr>
            <a:picLocks noChangeAspect="1"/>
          </p:cNvPicPr>
          <p:nvPr/>
        </p:nvPicPr>
        <p:blipFill>
          <a:blip r:embed="rId2"/>
          <a:srcRect l="28283" r="28283" t="0" b="0"/>
          <a:stretch/>
        </p:blipFill>
        <p:spPr>
          <a:xfrm>
            <a:off x="8001000" y="1417320"/>
            <a:ext cx="3566160" cy="4297680"/>
          </a:xfrm>
          <a:prstGeom prst="rect">
            <a:avLst/>
          </a:prstGeom>
        </p:spPr>
      </p:pic>
      <p:sp>
        <p:nvSpPr>
          <p:cNvPr id="19" name="Text 15"/>
          <p:cNvSpPr/>
          <p:nvPr/>
        </p:nvSpPr>
        <p:spPr>
          <a:xfrm>
            <a:off x="3931920" y="5925312"/>
            <a:ext cx="7635240" cy="201168"/>
          </a:xfrm>
          <a:prstGeom prst="rect">
            <a:avLst/>
          </a:prstGeom>
          <a:noFill/>
          <a:ln/>
        </p:spPr>
        <p:txBody>
          <a:bodyPr wrap="square" lIns="254" tIns="254" rIns="254" bIns="254" rtlCol="0" anchor="t">
            <a:normAutofit/>
          </a:bodyPr>
          <a:lstStyle/>
          <a:p>
            <a:pPr algn="ctr" indent="0" marL="0">
              <a:buNone/>
            </a:pPr>
            <a:r>
              <a:rPr lang="en-US" sz="950" i="1" dirty="0">
                <a:solidFill>
                  <a:srgbClr val="6B7280"/>
                </a:solidFill>
              </a:rPr>
              <a:t>Menú principal y topología de planta actuales (AS-IS)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AS-IS</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Línea base actual del aplicativo</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4</a:t>
            </a:r>
            <a:endParaRPr lang="en-US" sz="780" dirty="0"/>
          </a:p>
        </p:txBody>
      </p:sp>
      <p:sp>
        <p:nvSpPr>
          <p:cNvPr id="8" name="Text 6"/>
          <p:cNvSpPr/>
          <p:nvPr/>
        </p:nvSpPr>
        <p:spPr>
          <a:xfrm>
            <a:off x="548640" y="1024128"/>
            <a:ext cx="7680960" cy="320040"/>
          </a:xfrm>
          <a:prstGeom prst="rect">
            <a:avLst/>
          </a:prstGeom>
          <a:noFill/>
          <a:ln/>
        </p:spPr>
        <p:txBody>
          <a:bodyPr wrap="square" lIns="254" tIns="254" rIns="254" bIns="254" rtlCol="0" anchor="t">
            <a:normAutofit/>
          </a:bodyPr>
          <a:lstStyle/>
          <a:p>
            <a:pPr algn="l" indent="0" marL="0">
              <a:buNone/>
            </a:pPr>
            <a:r>
              <a:rPr lang="en-US" sz="1500" b="1" dirty="0">
                <a:solidFill>
                  <a:srgbClr val="1F2937"/>
                </a:solidFill>
              </a:rPr>
              <a:t>Estas pantallas son el punto de partida: muestran funcionalidades existentes y ayudan a separar AS-IS de TO-BE.</a:t>
            </a:r>
            <a:endParaRPr lang="en-US" sz="1500" dirty="0"/>
          </a:p>
        </p:txBody>
      </p:sp>
      <p:pic>
        <p:nvPicPr>
          <p:cNvPr id="9" name="Image 0" descr="/mnt/data/barb_split/media/image14.png">    </p:cNvPr>
          <p:cNvPicPr>
            <a:picLocks noChangeAspect="1"/>
          </p:cNvPicPr>
          <p:nvPr/>
        </p:nvPicPr>
        <p:blipFill>
          <a:blip r:embed="rId1"/>
          <a:srcRect l="10581" r="10581" t="0" b="0"/>
          <a:stretch/>
        </p:blipFill>
        <p:spPr>
          <a:xfrm>
            <a:off x="594360" y="1600200"/>
            <a:ext cx="5349240" cy="2057400"/>
          </a:xfrm>
          <a:prstGeom prst="rect">
            <a:avLst/>
          </a:prstGeom>
        </p:spPr>
      </p:pic>
      <p:pic>
        <p:nvPicPr>
          <p:cNvPr id="10" name="Image 1" descr="/mnt/data/barb_split/media/image16.png">    </p:cNvPr>
          <p:cNvPicPr>
            <a:picLocks noChangeAspect="1"/>
          </p:cNvPicPr>
          <p:nvPr/>
        </p:nvPicPr>
        <p:blipFill>
          <a:blip r:embed="rId2"/>
          <a:srcRect l="0" r="0" t="13900" b="13900"/>
          <a:stretch/>
        </p:blipFill>
        <p:spPr>
          <a:xfrm>
            <a:off x="6236208" y="1600200"/>
            <a:ext cx="5349240" cy="2057400"/>
          </a:xfrm>
          <a:prstGeom prst="rect">
            <a:avLst/>
          </a:prstGeom>
        </p:spPr>
      </p:pic>
      <p:pic>
        <p:nvPicPr>
          <p:cNvPr id="11" name="Image 2" descr="/mnt/data/barb_split/media/image19.png">    </p:cNvPr>
          <p:cNvPicPr>
            <a:picLocks noChangeAspect="1"/>
          </p:cNvPicPr>
          <p:nvPr/>
        </p:nvPicPr>
        <p:blipFill>
          <a:blip r:embed="rId3"/>
          <a:srcRect l="0" r="0" t="13763" b="13763"/>
          <a:stretch/>
        </p:blipFill>
        <p:spPr>
          <a:xfrm>
            <a:off x="594360" y="3977640"/>
            <a:ext cx="3429000" cy="1417320"/>
          </a:xfrm>
          <a:prstGeom prst="rect">
            <a:avLst/>
          </a:prstGeom>
        </p:spPr>
      </p:pic>
      <p:pic>
        <p:nvPicPr>
          <p:cNvPr id="12" name="Image 3" descr="/mnt/data/barb_split/media/image20.png">    </p:cNvPr>
          <p:cNvPicPr>
            <a:picLocks noChangeAspect="1"/>
          </p:cNvPicPr>
          <p:nvPr/>
        </p:nvPicPr>
        <p:blipFill>
          <a:blip r:embed="rId4"/>
          <a:srcRect l="0" r="0" t="20136" b="20136"/>
          <a:stretch/>
        </p:blipFill>
        <p:spPr>
          <a:xfrm>
            <a:off x="4370832" y="3977640"/>
            <a:ext cx="3429000" cy="1417320"/>
          </a:xfrm>
          <a:prstGeom prst="rect">
            <a:avLst/>
          </a:prstGeom>
        </p:spPr>
      </p:pic>
      <p:pic>
        <p:nvPicPr>
          <p:cNvPr id="13" name="Image 4" descr="/mnt/data/barb_split/media/image22.png">    </p:cNvPr>
          <p:cNvPicPr>
            <a:picLocks noChangeAspect="1"/>
          </p:cNvPicPr>
          <p:nvPr/>
        </p:nvPicPr>
        <p:blipFill>
          <a:blip r:embed="rId5"/>
          <a:srcRect l="9717" r="9717" t="0" b="0"/>
          <a:stretch/>
        </p:blipFill>
        <p:spPr>
          <a:xfrm>
            <a:off x="8138160" y="3977640"/>
            <a:ext cx="3429000" cy="1417320"/>
          </a:xfrm>
          <a:prstGeom prst="rect">
            <a:avLst/>
          </a:prstGeom>
        </p:spPr>
      </p:pic>
      <p:sp>
        <p:nvSpPr>
          <p:cNvPr id="14" name="Text 7"/>
          <p:cNvSpPr/>
          <p:nvPr/>
        </p:nvSpPr>
        <p:spPr>
          <a:xfrm>
            <a:off x="594360" y="5696712"/>
            <a:ext cx="10972800" cy="219456"/>
          </a:xfrm>
          <a:prstGeom prst="rect">
            <a:avLst/>
          </a:prstGeom>
          <a:noFill/>
          <a:ln/>
        </p:spPr>
        <p:txBody>
          <a:bodyPr wrap="square" lIns="254" tIns="254" rIns="254" bIns="254" rtlCol="0" anchor="t">
            <a:normAutofit/>
          </a:bodyPr>
          <a:lstStyle/>
          <a:p>
            <a:pPr algn="ctr" indent="0" marL="0">
              <a:buNone/>
            </a:pPr>
            <a:r>
              <a:rPr lang="en-US" sz="1000" i="1" dirty="0">
                <a:solidFill>
                  <a:srgbClr val="6B7280"/>
                </a:solidFill>
              </a:rPr>
              <a:t>Dashboard KPI · Órdenes de trabajo · Chat documental · Carga documental · Historial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INGENIERÍA DE SOLUCIÓN</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Arquitectura funcional de BARB</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5</a:t>
            </a:r>
            <a:endParaRPr lang="en-US" sz="780" dirty="0"/>
          </a:p>
        </p:txBody>
      </p:sp>
      <p:sp>
        <p:nvSpPr>
          <p:cNvPr id="8" name="Text 6"/>
          <p:cNvSpPr/>
          <p:nvPr/>
        </p:nvSpPr>
        <p:spPr>
          <a:xfrm>
            <a:off x="594360" y="1042416"/>
            <a:ext cx="6492240" cy="320040"/>
          </a:xfrm>
          <a:prstGeom prst="rect">
            <a:avLst/>
          </a:prstGeom>
          <a:noFill/>
          <a:ln/>
        </p:spPr>
        <p:txBody>
          <a:bodyPr wrap="square" lIns="254" tIns="254" rIns="254" bIns="254" rtlCol="0" anchor="t">
            <a:normAutofit/>
          </a:bodyPr>
          <a:lstStyle/>
          <a:p>
            <a:pPr algn="l" indent="0" marL="0">
              <a:buNone/>
            </a:pPr>
            <a:r>
              <a:rPr lang="en-US" sz="1600" b="1" dirty="0">
                <a:solidFill>
                  <a:srgbClr val="1F2937"/>
                </a:solidFill>
              </a:rPr>
              <a:t>La solución se entiende por capas integradas, no como pantallas aisladas.</a:t>
            </a:r>
            <a:endParaRPr lang="en-US" sz="1600" dirty="0"/>
          </a:p>
        </p:txBody>
      </p:sp>
      <p:sp>
        <p:nvSpPr>
          <p:cNvPr id="9" name="Text 7"/>
          <p:cNvSpPr/>
          <p:nvPr/>
        </p:nvSpPr>
        <p:spPr>
          <a:xfrm>
            <a:off x="685800" y="1874520"/>
            <a:ext cx="4846320" cy="841248"/>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Frontend Web / PWA</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Dashboard, DocChat, topología, OT y experiencia tablet.</a:t>
            </a:r>
            <a:endParaRPr lang="en-US" sz="1220" dirty="0"/>
          </a:p>
        </p:txBody>
      </p:sp>
      <p:sp>
        <p:nvSpPr>
          <p:cNvPr id="10" name="Shape 8"/>
          <p:cNvSpPr/>
          <p:nvPr/>
        </p:nvSpPr>
        <p:spPr>
          <a:xfrm>
            <a:off x="685800" y="2679192"/>
            <a:ext cx="4846320" cy="0"/>
          </a:xfrm>
          <a:prstGeom prst="line">
            <a:avLst/>
          </a:prstGeom>
          <a:noFill/>
          <a:ln w="25400">
            <a:solidFill>
              <a:srgbClr val="2563EB"/>
            </a:solidFill>
            <a:prstDash val="solid"/>
          </a:ln>
        </p:spPr>
      </p:sp>
      <p:sp>
        <p:nvSpPr>
          <p:cNvPr id="11" name="Text 9"/>
          <p:cNvSpPr/>
          <p:nvPr/>
        </p:nvSpPr>
        <p:spPr>
          <a:xfrm>
            <a:off x="685800" y="2971800"/>
            <a:ext cx="4846320" cy="841248"/>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API Backend</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Servicios REST, reglas de negocio, reportes, auditoría e IA.</a:t>
            </a:r>
            <a:endParaRPr lang="en-US" sz="1220" dirty="0"/>
          </a:p>
        </p:txBody>
      </p:sp>
      <p:sp>
        <p:nvSpPr>
          <p:cNvPr id="12" name="Shape 10"/>
          <p:cNvSpPr/>
          <p:nvPr/>
        </p:nvSpPr>
        <p:spPr>
          <a:xfrm>
            <a:off x="685800" y="3776472"/>
            <a:ext cx="4846320" cy="0"/>
          </a:xfrm>
          <a:prstGeom prst="line">
            <a:avLst/>
          </a:prstGeom>
          <a:noFill/>
          <a:ln w="25400">
            <a:solidFill>
              <a:srgbClr val="059669"/>
            </a:solidFill>
            <a:prstDash val="solid"/>
          </a:ln>
        </p:spPr>
      </p:sp>
      <p:sp>
        <p:nvSpPr>
          <p:cNvPr id="13" name="Text 11"/>
          <p:cNvSpPr/>
          <p:nvPr/>
        </p:nvSpPr>
        <p:spPr>
          <a:xfrm>
            <a:off x="685800" y="4069080"/>
            <a:ext cx="4846320" cy="841248"/>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Datos</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BD relacional, documentos, adjuntos, logs, topología, sensores y OT.</a:t>
            </a:r>
            <a:endParaRPr lang="en-US" sz="1220" dirty="0"/>
          </a:p>
        </p:txBody>
      </p:sp>
      <p:sp>
        <p:nvSpPr>
          <p:cNvPr id="14" name="Shape 12"/>
          <p:cNvSpPr/>
          <p:nvPr/>
        </p:nvSpPr>
        <p:spPr>
          <a:xfrm>
            <a:off x="685800" y="4873752"/>
            <a:ext cx="4846320" cy="0"/>
          </a:xfrm>
          <a:prstGeom prst="line">
            <a:avLst/>
          </a:prstGeom>
          <a:noFill/>
          <a:ln w="25400">
            <a:solidFill>
              <a:srgbClr val="E07800"/>
            </a:solidFill>
            <a:prstDash val="solid"/>
          </a:ln>
        </p:spPr>
      </p:sp>
      <p:sp>
        <p:nvSpPr>
          <p:cNvPr id="15" name="Text 13"/>
          <p:cNvSpPr/>
          <p:nvPr/>
        </p:nvSpPr>
        <p:spPr>
          <a:xfrm>
            <a:off x="685800" y="5166360"/>
            <a:ext cx="4846320" cy="841248"/>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IA / RAG</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Servicio principal + recuperación documental y contingencia offline.</a:t>
            </a:r>
            <a:endParaRPr lang="en-US" sz="1220" dirty="0"/>
          </a:p>
        </p:txBody>
      </p:sp>
      <p:sp>
        <p:nvSpPr>
          <p:cNvPr id="16" name="Shape 14"/>
          <p:cNvSpPr/>
          <p:nvPr/>
        </p:nvSpPr>
        <p:spPr>
          <a:xfrm>
            <a:off x="685800" y="5971032"/>
            <a:ext cx="4846320" cy="0"/>
          </a:xfrm>
          <a:prstGeom prst="line">
            <a:avLst/>
          </a:prstGeom>
          <a:noFill/>
          <a:ln w="25400">
            <a:solidFill>
              <a:srgbClr val="6D28D9"/>
            </a:solidFill>
            <a:prstDash val="solid"/>
          </a:ln>
        </p:spPr>
      </p:sp>
      <p:sp>
        <p:nvSpPr>
          <p:cNvPr id="17" name="Text 15"/>
          <p:cNvSpPr/>
          <p:nvPr/>
        </p:nvSpPr>
        <p:spPr>
          <a:xfrm>
            <a:off x="6492240" y="1874520"/>
            <a:ext cx="3931920" cy="320040"/>
          </a:xfrm>
          <a:prstGeom prst="rect">
            <a:avLst/>
          </a:prstGeom>
          <a:noFill/>
          <a:ln/>
        </p:spPr>
        <p:txBody>
          <a:bodyPr wrap="square" lIns="254" tIns="254" rIns="254" bIns="254" rtlCol="0" anchor="t">
            <a:normAutofit/>
          </a:bodyPr>
          <a:lstStyle/>
          <a:p>
            <a:pPr algn="l" indent="0" marL="0">
              <a:buNone/>
            </a:pPr>
            <a:r>
              <a:rPr lang="en-US" sz="1900" b="1" dirty="0">
                <a:solidFill>
                  <a:srgbClr val="1F2937"/>
                </a:solidFill>
              </a:rPr>
              <a:t>Competencias aplicadas</a:t>
            </a:r>
            <a:endParaRPr lang="en-US" sz="1900" dirty="0"/>
          </a:p>
        </p:txBody>
      </p:sp>
      <p:sp>
        <p:nvSpPr>
          <p:cNvPr id="18" name="Text 16"/>
          <p:cNvSpPr/>
          <p:nvPr/>
        </p:nvSpPr>
        <p:spPr>
          <a:xfrm>
            <a:off x="6510528" y="2395728"/>
            <a:ext cx="438912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Diseño y desarrollo de software.</a:t>
            </a:r>
            <a:endParaRPr lang="en-US" sz="1300" dirty="0"/>
          </a:p>
        </p:txBody>
      </p:sp>
      <p:sp>
        <p:nvSpPr>
          <p:cNvPr id="19" name="Text 17"/>
          <p:cNvSpPr/>
          <p:nvPr/>
        </p:nvSpPr>
        <p:spPr>
          <a:xfrm>
            <a:off x="6510528" y="2761488"/>
            <a:ext cx="438912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Modelamiento y gestión de datos.</a:t>
            </a:r>
            <a:endParaRPr lang="en-US" sz="1300" dirty="0"/>
          </a:p>
        </p:txBody>
      </p:sp>
      <p:sp>
        <p:nvSpPr>
          <p:cNvPr id="20" name="Text 18"/>
          <p:cNvSpPr/>
          <p:nvPr/>
        </p:nvSpPr>
        <p:spPr>
          <a:xfrm>
            <a:off x="6510528" y="3127248"/>
            <a:ext cx="438912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Pruebas y aseguramiento de calidad.</a:t>
            </a:r>
            <a:endParaRPr lang="en-US" sz="1300" dirty="0"/>
          </a:p>
        </p:txBody>
      </p:sp>
      <p:sp>
        <p:nvSpPr>
          <p:cNvPr id="21" name="Text 19"/>
          <p:cNvSpPr/>
          <p:nvPr/>
        </p:nvSpPr>
        <p:spPr>
          <a:xfrm>
            <a:off x="6510528" y="3493008"/>
            <a:ext cx="438912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Gestión de proyecto informático.</a:t>
            </a:r>
            <a:endParaRPr lang="en-US" sz="1300" dirty="0"/>
          </a:p>
        </p:txBody>
      </p:sp>
      <p:sp>
        <p:nvSpPr>
          <p:cNvPr id="22" name="Text 20"/>
          <p:cNvSpPr/>
          <p:nvPr/>
        </p:nvSpPr>
        <p:spPr>
          <a:xfrm>
            <a:off x="6510528" y="3858768"/>
            <a:ext cx="438912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Seguridad, trazabilidad e integración.</a:t>
            </a:r>
            <a:endParaRPr lang="en-US" sz="1300" dirty="0"/>
          </a:p>
        </p:txBody>
      </p:sp>
      <p:sp>
        <p:nvSpPr>
          <p:cNvPr id="23" name="Text 21"/>
          <p:cNvSpPr/>
          <p:nvPr/>
        </p:nvSpPr>
        <p:spPr>
          <a:xfrm>
            <a:off x="6510528" y="4754880"/>
            <a:ext cx="4297680" cy="493776"/>
          </a:xfrm>
          <a:prstGeom prst="rect">
            <a:avLst/>
          </a:prstGeom>
          <a:noFill/>
          <a:ln/>
        </p:spPr>
        <p:txBody>
          <a:bodyPr wrap="square" lIns="254" tIns="254" rIns="254" bIns="254" rtlCol="0" anchor="t">
            <a:normAutofit/>
          </a:bodyPr>
          <a:lstStyle/>
          <a:p>
            <a:pPr algn="l" indent="0" marL="0">
              <a:buNone/>
            </a:pPr>
            <a:r>
              <a:rPr lang="en-US" sz="1500" b="1" dirty="0">
                <a:solidFill>
                  <a:srgbClr val="1F4E79"/>
                </a:solidFill>
              </a:rPr>
              <a:t>Tecnología emergente: IA generativa/RAG aplicada al proceso de mantenimiento.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FOCO ASIGNADO</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Alcance Capstone del semestre</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6</a:t>
            </a:r>
            <a:endParaRPr lang="en-US" sz="780" dirty="0"/>
          </a:p>
        </p:txBody>
      </p:sp>
      <p:sp>
        <p:nvSpPr>
          <p:cNvPr id="8" name="Text 6"/>
          <p:cNvSpPr/>
          <p:nvPr/>
        </p:nvSpPr>
        <p:spPr>
          <a:xfrm>
            <a:off x="594360" y="1024128"/>
            <a:ext cx="7589520" cy="320040"/>
          </a:xfrm>
          <a:prstGeom prst="rect">
            <a:avLst/>
          </a:prstGeom>
          <a:noFill/>
          <a:ln/>
        </p:spPr>
        <p:txBody>
          <a:bodyPr wrap="square" lIns="254" tIns="254" rIns="254" bIns="254" rtlCol="0" anchor="t">
            <a:normAutofit/>
          </a:bodyPr>
          <a:lstStyle/>
          <a:p>
            <a:pPr algn="l" indent="0" marL="0">
              <a:buNone/>
            </a:pPr>
            <a:r>
              <a:rPr lang="en-US" sz="1600" b="1" dirty="0">
                <a:solidFill>
                  <a:srgbClr val="1F2937"/>
                </a:solidFill>
              </a:rPr>
              <a:t>El equipo no rehace BARB completo: desarrolla cuatro incrementos acotados y medibles.</a:t>
            </a:r>
            <a:endParaRPr lang="en-US" sz="1600" dirty="0"/>
          </a:p>
        </p:txBody>
      </p:sp>
      <p:sp>
        <p:nvSpPr>
          <p:cNvPr id="9" name="Text 7"/>
          <p:cNvSpPr/>
          <p:nvPr/>
        </p:nvSpPr>
        <p:spPr>
          <a:xfrm>
            <a:off x="685800" y="1874520"/>
            <a:ext cx="5212080" cy="1097280"/>
          </a:xfrm>
          <a:prstGeom prst="rect">
            <a:avLst/>
          </a:prstGeom>
          <a:solidFill>
            <a:srgbClr val="EAF2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1 · PWA / movilidad</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Uso intensivo en tablets iOS/Android: OT, fotos, consulta IA y sincronización offline.</a:t>
            </a:r>
            <a:endParaRPr lang="en-US" sz="1220" dirty="0"/>
          </a:p>
        </p:txBody>
      </p:sp>
      <p:sp>
        <p:nvSpPr>
          <p:cNvPr id="10" name="Shape 8"/>
          <p:cNvSpPr/>
          <p:nvPr/>
        </p:nvSpPr>
        <p:spPr>
          <a:xfrm>
            <a:off x="685800" y="2935224"/>
            <a:ext cx="5212080" cy="0"/>
          </a:xfrm>
          <a:prstGeom prst="line">
            <a:avLst/>
          </a:prstGeom>
          <a:noFill/>
          <a:ln w="25400">
            <a:solidFill>
              <a:srgbClr val="2563EB"/>
            </a:solidFill>
            <a:prstDash val="solid"/>
          </a:ln>
        </p:spPr>
      </p:sp>
      <p:sp>
        <p:nvSpPr>
          <p:cNvPr id="11" name="Text 9"/>
          <p:cNvSpPr/>
          <p:nvPr/>
        </p:nvSpPr>
        <p:spPr>
          <a:xfrm>
            <a:off x="6309360" y="1874520"/>
            <a:ext cx="5212080" cy="1097280"/>
          </a:xfrm>
          <a:prstGeom prst="rect">
            <a:avLst/>
          </a:prstGeom>
          <a:solidFill>
            <a:srgbClr val="F3E8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2 · RAG offline</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Contingencia para consultar manuales y fragmentos técnicos sin exigir LLM local.</a:t>
            </a:r>
            <a:endParaRPr lang="en-US" sz="1220" dirty="0"/>
          </a:p>
        </p:txBody>
      </p:sp>
      <p:sp>
        <p:nvSpPr>
          <p:cNvPr id="12" name="Shape 10"/>
          <p:cNvSpPr/>
          <p:nvPr/>
        </p:nvSpPr>
        <p:spPr>
          <a:xfrm>
            <a:off x="6309360" y="2935224"/>
            <a:ext cx="5212080" cy="0"/>
          </a:xfrm>
          <a:prstGeom prst="line">
            <a:avLst/>
          </a:prstGeom>
          <a:noFill/>
          <a:ln w="25400">
            <a:solidFill>
              <a:srgbClr val="6D28D9"/>
            </a:solidFill>
            <a:prstDash val="solid"/>
          </a:ln>
        </p:spPr>
      </p:sp>
      <p:sp>
        <p:nvSpPr>
          <p:cNvPr id="13" name="Text 11"/>
          <p:cNvSpPr/>
          <p:nvPr/>
        </p:nvSpPr>
        <p:spPr>
          <a:xfrm>
            <a:off x="685800" y="3429000"/>
            <a:ext cx="5212080" cy="1097280"/>
          </a:xfrm>
          <a:prstGeom prst="rect">
            <a:avLst/>
          </a:prstGeom>
          <a:solidFill>
            <a:srgbClr val="FFF2E1"/>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3 · PDF KPI</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Reportes gerenciales con MTTR, eficiencia, costos, OTs, incidencias y filtros ejecutivos.</a:t>
            </a:r>
            <a:endParaRPr lang="en-US" sz="1220" dirty="0"/>
          </a:p>
        </p:txBody>
      </p:sp>
      <p:sp>
        <p:nvSpPr>
          <p:cNvPr id="14" name="Shape 12"/>
          <p:cNvSpPr/>
          <p:nvPr/>
        </p:nvSpPr>
        <p:spPr>
          <a:xfrm>
            <a:off x="685800" y="4489704"/>
            <a:ext cx="5212080" cy="0"/>
          </a:xfrm>
          <a:prstGeom prst="line">
            <a:avLst/>
          </a:prstGeom>
          <a:noFill/>
          <a:ln w="25400">
            <a:solidFill>
              <a:srgbClr val="E07800"/>
            </a:solidFill>
            <a:prstDash val="solid"/>
          </a:ln>
        </p:spPr>
      </p:sp>
      <p:sp>
        <p:nvSpPr>
          <p:cNvPr id="15" name="Text 13"/>
          <p:cNvSpPr/>
          <p:nvPr/>
        </p:nvSpPr>
        <p:spPr>
          <a:xfrm>
            <a:off x="6309360" y="3429000"/>
            <a:ext cx="5212080" cy="1097280"/>
          </a:xfrm>
          <a:prstGeom prst="rect">
            <a:avLst/>
          </a:prstGeom>
          <a:solidFill>
            <a:srgbClr val="E9F8F1"/>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4 · Auditoría funcional</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Logs de OT, usuarios, altas/bajas, cargas, descargas y acciones críticas.</a:t>
            </a:r>
            <a:endParaRPr lang="en-US" sz="1220" dirty="0"/>
          </a:p>
        </p:txBody>
      </p:sp>
      <p:sp>
        <p:nvSpPr>
          <p:cNvPr id="16" name="Shape 14"/>
          <p:cNvSpPr/>
          <p:nvPr/>
        </p:nvSpPr>
        <p:spPr>
          <a:xfrm>
            <a:off x="6309360" y="4489704"/>
            <a:ext cx="5212080" cy="0"/>
          </a:xfrm>
          <a:prstGeom prst="line">
            <a:avLst/>
          </a:prstGeom>
          <a:noFill/>
          <a:ln w="25400">
            <a:solidFill>
              <a:srgbClr val="059669"/>
            </a:solidFill>
            <a:prstDash val="solid"/>
          </a:ln>
        </p:spPr>
      </p:sp>
      <p:sp>
        <p:nvSpPr>
          <p:cNvPr id="17" name="Text 15"/>
          <p:cNvSpPr/>
          <p:nvPr/>
        </p:nvSpPr>
        <p:spPr>
          <a:xfrm>
            <a:off x="685800" y="5532120"/>
            <a:ext cx="10881360" cy="320040"/>
          </a:xfrm>
          <a:prstGeom prst="rect">
            <a:avLst/>
          </a:prstGeom>
          <a:noFill/>
          <a:ln/>
        </p:spPr>
        <p:txBody>
          <a:bodyPr wrap="square" lIns="254" tIns="254" rIns="254" bIns="254" rtlCol="0" anchor="t">
            <a:normAutofit/>
          </a:bodyPr>
          <a:lstStyle/>
          <a:p>
            <a:pPr algn="ctr" indent="0" marL="0">
              <a:buNone/>
            </a:pPr>
            <a:r>
              <a:rPr lang="en-US" sz="1400" b="1" dirty="0">
                <a:solidFill>
                  <a:srgbClr val="1F4E79"/>
                </a:solidFill>
              </a:rPr>
              <a:t>Regla de control: AS-IS = línea base existente · TO-BE = incremento desarrollado por el equipo Capstone.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MÓVIL / TABLET</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Diseño 1: PWA y sincronización offline</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7</a:t>
            </a:r>
            <a:endParaRPr lang="en-US" sz="780" dirty="0"/>
          </a:p>
        </p:txBody>
      </p:sp>
      <p:sp>
        <p:nvSpPr>
          <p:cNvPr id="8" name="Text 6"/>
          <p:cNvSpPr/>
          <p:nvPr/>
        </p:nvSpPr>
        <p:spPr>
          <a:xfrm>
            <a:off x="594360" y="1005840"/>
            <a:ext cx="7863840" cy="320040"/>
          </a:xfrm>
          <a:prstGeom prst="rect">
            <a:avLst/>
          </a:prstGeom>
          <a:noFill/>
          <a:ln/>
        </p:spPr>
        <p:txBody>
          <a:bodyPr wrap="square" lIns="254" tIns="254" rIns="254" bIns="254" rtlCol="0" anchor="t">
            <a:normAutofit/>
          </a:bodyPr>
          <a:lstStyle/>
          <a:p>
            <a:pPr algn="l" indent="0" marL="0">
              <a:buNone/>
            </a:pPr>
            <a:r>
              <a:rPr lang="en-US" sz="1550" b="1" dirty="0">
                <a:solidFill>
                  <a:srgbClr val="1F2937"/>
                </a:solidFill>
              </a:rPr>
              <a:t>Objetivo: que el técnico trabaje desde tablet en terreno, incluso ante conectividad intermitente.</a:t>
            </a:r>
            <a:endParaRPr lang="en-US" sz="1550" dirty="0"/>
          </a:p>
        </p:txBody>
      </p:sp>
      <p:pic>
        <p:nvPicPr>
          <p:cNvPr id="9" name="Image 0" descr="/mnt/data/barb_split/media/image16.png">    </p:cNvPr>
          <p:cNvPicPr>
            <a:picLocks noChangeAspect="1"/>
          </p:cNvPicPr>
          <p:nvPr/>
        </p:nvPicPr>
        <p:blipFill>
          <a:blip r:embed="rId1"/>
          <a:srcRect l="0" r="0" t="7416" b="7416"/>
          <a:stretch/>
        </p:blipFill>
        <p:spPr>
          <a:xfrm>
            <a:off x="594360" y="1600200"/>
            <a:ext cx="4937760" cy="2240280"/>
          </a:xfrm>
          <a:prstGeom prst="rect">
            <a:avLst/>
          </a:prstGeom>
        </p:spPr>
      </p:pic>
      <p:pic>
        <p:nvPicPr>
          <p:cNvPr id="10" name="Image 1" descr="/mnt/data/barb_split/media/image9.png">    </p:cNvPr>
          <p:cNvPicPr>
            <a:picLocks noChangeAspect="1"/>
          </p:cNvPicPr>
          <p:nvPr/>
        </p:nvPicPr>
        <p:blipFill>
          <a:blip r:embed="rId2"/>
          <a:srcRect l="7114" r="7114" t="0" b="0"/>
          <a:stretch/>
        </p:blipFill>
        <p:spPr>
          <a:xfrm>
            <a:off x="6080760" y="1600200"/>
            <a:ext cx="2651760" cy="4023360"/>
          </a:xfrm>
          <a:prstGeom prst="rect">
            <a:avLst/>
          </a:prstGeom>
        </p:spPr>
      </p:pic>
      <p:sp>
        <p:nvSpPr>
          <p:cNvPr id="11" name="Text 7"/>
          <p:cNvSpPr/>
          <p:nvPr/>
        </p:nvSpPr>
        <p:spPr>
          <a:xfrm>
            <a:off x="594360" y="4005072"/>
            <a:ext cx="4937760" cy="201168"/>
          </a:xfrm>
          <a:prstGeom prst="rect">
            <a:avLst/>
          </a:prstGeom>
          <a:noFill/>
          <a:ln/>
        </p:spPr>
        <p:txBody>
          <a:bodyPr wrap="square" lIns="254" tIns="254" rIns="254" bIns="254" rtlCol="0" anchor="t">
            <a:normAutofit/>
          </a:bodyPr>
          <a:lstStyle/>
          <a:p>
            <a:pPr algn="ctr" indent="0" marL="0">
              <a:buNone/>
            </a:pPr>
            <a:r>
              <a:rPr lang="en-US" sz="950" i="1" dirty="0">
                <a:solidFill>
                  <a:srgbClr val="6B7280"/>
                </a:solidFill>
              </a:rPr>
              <a:t>AS-IS: gestión de OT</a:t>
            </a:r>
            <a:endParaRPr lang="en-US" sz="950" dirty="0"/>
          </a:p>
        </p:txBody>
      </p:sp>
      <p:sp>
        <p:nvSpPr>
          <p:cNvPr id="12" name="Text 8"/>
          <p:cNvSpPr/>
          <p:nvPr/>
        </p:nvSpPr>
        <p:spPr>
          <a:xfrm>
            <a:off x="6080760" y="5742432"/>
            <a:ext cx="2651760" cy="201168"/>
          </a:xfrm>
          <a:prstGeom prst="rect">
            <a:avLst/>
          </a:prstGeom>
          <a:noFill/>
          <a:ln/>
        </p:spPr>
        <p:txBody>
          <a:bodyPr wrap="square" lIns="254" tIns="254" rIns="254" bIns="254" rtlCol="0" anchor="t">
            <a:normAutofit/>
          </a:bodyPr>
          <a:lstStyle/>
          <a:p>
            <a:pPr algn="ctr" indent="0" marL="0">
              <a:buNone/>
            </a:pPr>
            <a:r>
              <a:rPr lang="en-US" sz="950" i="1" dirty="0">
                <a:solidFill>
                  <a:srgbClr val="6B7280"/>
                </a:solidFill>
              </a:rPr>
              <a:t>TO-BE: experiencia tablet/PWA</a:t>
            </a:r>
            <a:endParaRPr lang="en-US" sz="950" dirty="0"/>
          </a:p>
        </p:txBody>
      </p:sp>
      <p:sp>
        <p:nvSpPr>
          <p:cNvPr id="13" name="Text 9"/>
          <p:cNvSpPr/>
          <p:nvPr/>
        </p:nvSpPr>
        <p:spPr>
          <a:xfrm>
            <a:off x="9144000" y="1600200"/>
            <a:ext cx="2743200" cy="164592"/>
          </a:xfrm>
          <a:prstGeom prst="rect">
            <a:avLst/>
          </a:prstGeom>
          <a:noFill/>
          <a:ln/>
        </p:spPr>
        <p:txBody>
          <a:bodyPr wrap="square" lIns="0" tIns="0" rIns="0" bIns="0" rtlCol="0" anchor="ctr"/>
          <a:lstStyle/>
          <a:p>
            <a:pPr indent="0" marL="0">
              <a:buNone/>
            </a:pPr>
            <a:r>
              <a:rPr lang="en-US" sz="800" b="1" dirty="0">
                <a:solidFill>
                  <a:srgbClr val="059669"/>
                </a:solidFill>
              </a:rPr>
              <a:t>SINCRONIZACIÓN OFFLINE PROPUESTA</a:t>
            </a:r>
            <a:endParaRPr lang="en-US" sz="800" dirty="0"/>
          </a:p>
        </p:txBody>
      </p:sp>
      <p:sp>
        <p:nvSpPr>
          <p:cNvPr id="14" name="Text 10"/>
          <p:cNvSpPr/>
          <p:nvPr/>
        </p:nvSpPr>
        <p:spPr>
          <a:xfrm>
            <a:off x="9144000" y="1993392"/>
            <a:ext cx="2468880" cy="2148840"/>
          </a:xfrm>
          <a:prstGeom prst="rect">
            <a:avLst/>
          </a:prstGeom>
          <a:noFill/>
          <a:ln/>
        </p:spPr>
        <p:txBody>
          <a:bodyPr wrap="square" lIns="254" tIns="254" rIns="254" bIns="254" rtlCol="0" anchor="t">
            <a:normAutofit/>
          </a:bodyPr>
          <a:lstStyle/>
          <a:p>
            <a:pPr algn="l" indent="0" marL="0">
              <a:buNone/>
            </a:pPr>
            <a:r>
              <a:rPr lang="en-US" sz="1210" dirty="0">
                <a:solidFill>
                  <a:srgbClr val="1F2937"/>
                </a:solidFill>
              </a:rPr>
              <a:t>1. Guardar OT + fotos en IndexedDB/Dexie</a:t>
            </a:r>
            <a:endParaRPr lang="en-US" sz="1210" dirty="0"/>
          </a:p>
          <a:p>
            <a:pPr algn="l" indent="0" marL="0">
              <a:buNone/>
            </a:pPr>
            <a:r>
              <a:rPr lang="en-US" sz="1210" dirty="0">
                <a:solidFill>
                  <a:srgbClr val="1F2937"/>
                </a:solidFill>
              </a:rPr>
              <a:t>2. Cola local Outbox</a:t>
            </a:r>
            <a:endParaRPr lang="en-US" sz="1210" dirty="0"/>
          </a:p>
          <a:p>
            <a:pPr algn="l" indent="0" marL="0">
              <a:buNone/>
            </a:pPr>
            <a:r>
              <a:rPr lang="en-US" sz="1210" dirty="0">
                <a:solidFill>
                  <a:srgbClr val="1F2937"/>
                </a:solidFill>
              </a:rPr>
              <a:t>3. Reintentos con Service Worker/Workbox</a:t>
            </a:r>
            <a:endParaRPr lang="en-US" sz="1210" dirty="0"/>
          </a:p>
          <a:p>
            <a:pPr algn="l" indent="0" marL="0">
              <a:buNone/>
            </a:pPr>
            <a:r>
              <a:rPr lang="en-US" sz="1210" dirty="0">
                <a:solidFill>
                  <a:srgbClr val="1F2937"/>
                </a:solidFill>
              </a:rPr>
              <a:t>4. Fallback al abrir/reconectar</a:t>
            </a:r>
            <a:endParaRPr lang="en-US" sz="1210" dirty="0"/>
          </a:p>
          <a:p>
            <a:pPr algn="l" indent="0" marL="0">
              <a:buNone/>
            </a:pPr>
            <a:r>
              <a:rPr lang="en-US" sz="1210" dirty="0">
                <a:solidFill>
                  <a:srgbClr val="1F2937"/>
                </a:solidFill>
              </a:rPr>
              <a:t>5. UUID + idempotencia</a:t>
            </a:r>
            <a:endParaRPr lang="en-US" sz="1210" dirty="0"/>
          </a:p>
          <a:p>
            <a:pPr algn="l" indent="0" marL="0">
              <a:buNone/>
            </a:pPr>
            <a:r>
              <a:rPr lang="en-US" sz="1210" dirty="0">
                <a:solidFill>
                  <a:srgbClr val="1F2937"/>
                </a:solidFill>
              </a:rPr>
              <a:t>6. Conflictos por versión/updated_at</a:t>
            </a:r>
            <a:endParaRPr lang="en-US" sz="1210" dirty="0"/>
          </a:p>
        </p:txBody>
      </p:sp>
      <p:sp>
        <p:nvSpPr>
          <p:cNvPr id="15" name="Text 11"/>
          <p:cNvSpPr/>
          <p:nvPr/>
        </p:nvSpPr>
        <p:spPr>
          <a:xfrm>
            <a:off x="9144000" y="4617720"/>
            <a:ext cx="2514600" cy="603504"/>
          </a:xfrm>
          <a:prstGeom prst="rect">
            <a:avLst/>
          </a:prstGeom>
          <a:noFill/>
          <a:ln/>
        </p:spPr>
        <p:txBody>
          <a:bodyPr wrap="square" lIns="254" tIns="254" rIns="254" bIns="254" rtlCol="0" anchor="t">
            <a:normAutofit/>
          </a:bodyPr>
          <a:lstStyle/>
          <a:p>
            <a:pPr algn="l" indent="0" marL="0">
              <a:buNone/>
            </a:pPr>
            <a:r>
              <a:rPr lang="en-US" sz="1320" b="1" dirty="0">
                <a:solidFill>
                  <a:srgbClr val="1F4E79"/>
                </a:solidFill>
              </a:rPr>
              <a:t>Resultado esperado: no perder trabajo en zonas muertas y sincronizar sin duplicar información.</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IA APLICADA</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Diseño 2: RAG offline operativo</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8</a:t>
            </a:r>
            <a:endParaRPr lang="en-US" sz="780" dirty="0"/>
          </a:p>
        </p:txBody>
      </p:sp>
      <p:pic>
        <p:nvPicPr>
          <p:cNvPr id="8" name="Image 0" descr="/mnt/data/barb_split/media/image19.png">    </p:cNvPr>
          <p:cNvPicPr>
            <a:picLocks noChangeAspect="1"/>
          </p:cNvPicPr>
          <p:nvPr/>
        </p:nvPicPr>
        <p:blipFill>
          <a:blip r:embed="rId1"/>
          <a:srcRect l="7227" r="7227" t="0" b="0"/>
          <a:stretch/>
        </p:blipFill>
        <p:spPr>
          <a:xfrm>
            <a:off x="594360" y="1234440"/>
            <a:ext cx="5212080" cy="3474720"/>
          </a:xfrm>
          <a:prstGeom prst="rect">
            <a:avLst/>
          </a:prstGeom>
        </p:spPr>
      </p:pic>
      <p:sp>
        <p:nvSpPr>
          <p:cNvPr id="9" name="Text 6"/>
          <p:cNvSpPr/>
          <p:nvPr/>
        </p:nvSpPr>
        <p:spPr>
          <a:xfrm>
            <a:off x="594360" y="4892040"/>
            <a:ext cx="5212080" cy="219456"/>
          </a:xfrm>
          <a:prstGeom prst="rect">
            <a:avLst/>
          </a:prstGeom>
          <a:noFill/>
          <a:ln/>
        </p:spPr>
        <p:txBody>
          <a:bodyPr wrap="square" lIns="254" tIns="254" rIns="254" bIns="254" rtlCol="0" anchor="t">
            <a:normAutofit/>
          </a:bodyPr>
          <a:lstStyle/>
          <a:p>
            <a:pPr algn="ctr" indent="0" marL="0">
              <a:buNone/>
            </a:pPr>
            <a:r>
              <a:rPr lang="en-US" sz="950" i="1" dirty="0">
                <a:solidFill>
                  <a:srgbClr val="6B7280"/>
                </a:solidFill>
              </a:rPr>
              <a:t>AS-IS: asistente documental conectado al flujo actual</a:t>
            </a:r>
            <a:endParaRPr lang="en-US" sz="950" dirty="0"/>
          </a:p>
        </p:txBody>
      </p:sp>
      <p:sp>
        <p:nvSpPr>
          <p:cNvPr id="10" name="Text 7"/>
          <p:cNvSpPr/>
          <p:nvPr/>
        </p:nvSpPr>
        <p:spPr>
          <a:xfrm>
            <a:off x="6217920" y="1325880"/>
            <a:ext cx="4389120" cy="320040"/>
          </a:xfrm>
          <a:prstGeom prst="rect">
            <a:avLst/>
          </a:prstGeom>
          <a:noFill/>
          <a:ln/>
        </p:spPr>
        <p:txBody>
          <a:bodyPr wrap="square" lIns="254" tIns="254" rIns="254" bIns="254" rtlCol="0" anchor="t">
            <a:normAutofit/>
          </a:bodyPr>
          <a:lstStyle/>
          <a:p>
            <a:pPr algn="l" indent="0" marL="0">
              <a:buNone/>
            </a:pPr>
            <a:r>
              <a:rPr lang="en-US" sz="2000" b="1" dirty="0">
                <a:solidFill>
                  <a:srgbClr val="1F2937"/>
                </a:solidFill>
              </a:rPr>
              <a:t>Idea central</a:t>
            </a:r>
            <a:endParaRPr lang="en-US" sz="2000" dirty="0"/>
          </a:p>
        </p:txBody>
      </p:sp>
      <p:sp>
        <p:nvSpPr>
          <p:cNvPr id="11" name="Text 8"/>
          <p:cNvSpPr/>
          <p:nvPr/>
        </p:nvSpPr>
        <p:spPr>
          <a:xfrm>
            <a:off x="6236208" y="1783080"/>
            <a:ext cx="5166360" cy="621792"/>
          </a:xfrm>
          <a:prstGeom prst="rect">
            <a:avLst/>
          </a:prstGeom>
          <a:noFill/>
          <a:ln/>
        </p:spPr>
        <p:txBody>
          <a:bodyPr wrap="square" lIns="254" tIns="254" rIns="254" bIns="254" rtlCol="0" anchor="t">
            <a:normAutofit/>
          </a:bodyPr>
          <a:lstStyle/>
          <a:p>
            <a:pPr algn="l" indent="0" marL="0">
              <a:buNone/>
            </a:pPr>
            <a:r>
              <a:rPr lang="en-US" sz="1430" dirty="0">
                <a:solidFill>
                  <a:srgbClr val="1F2937"/>
                </a:solidFill>
              </a:rPr>
              <a:t>No se exige LLM local. La prioridad es recuperar manuales y fragmentos confiables cuando falle la conectividad o el servicio principal.</a:t>
            </a:r>
            <a:endParaRPr lang="en-US" sz="1430" dirty="0"/>
          </a:p>
        </p:txBody>
      </p:sp>
      <p:sp>
        <p:nvSpPr>
          <p:cNvPr id="12" name="Text 9"/>
          <p:cNvSpPr/>
          <p:nvPr/>
        </p:nvSpPr>
        <p:spPr>
          <a:xfrm>
            <a:off x="6236208" y="2788920"/>
            <a:ext cx="5074920" cy="868680"/>
          </a:xfrm>
          <a:prstGeom prst="rect">
            <a:avLst/>
          </a:prstGeom>
          <a:solidFill>
            <a:srgbClr val="F3E8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TO-BE</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Modo de contingencia con fuentes visibles, estado offline identificado y continuidad para el diagnóstico.</a:t>
            </a:r>
            <a:endParaRPr lang="en-US" sz="1220" dirty="0"/>
          </a:p>
        </p:txBody>
      </p:sp>
      <p:sp>
        <p:nvSpPr>
          <p:cNvPr id="13" name="Shape 10"/>
          <p:cNvSpPr/>
          <p:nvPr/>
        </p:nvSpPr>
        <p:spPr>
          <a:xfrm>
            <a:off x="6236208" y="3621024"/>
            <a:ext cx="5074920" cy="0"/>
          </a:xfrm>
          <a:prstGeom prst="line">
            <a:avLst/>
          </a:prstGeom>
          <a:noFill/>
          <a:ln w="25400">
            <a:solidFill>
              <a:srgbClr val="6D28D9"/>
            </a:solidFill>
            <a:prstDash val="solid"/>
          </a:ln>
        </p:spPr>
      </p:sp>
      <p:sp>
        <p:nvSpPr>
          <p:cNvPr id="14" name="Text 11"/>
          <p:cNvSpPr/>
          <p:nvPr/>
        </p:nvSpPr>
        <p:spPr>
          <a:xfrm>
            <a:off x="6236208" y="3977640"/>
            <a:ext cx="507492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Decisión técnica</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Vector DB, almacenamiento local, actualización del corpus y estrategia de fallback se definen tras prototipos.</a:t>
            </a:r>
            <a:endParaRPr lang="en-US" sz="1220" dirty="0"/>
          </a:p>
        </p:txBody>
      </p:sp>
      <p:sp>
        <p:nvSpPr>
          <p:cNvPr id="15" name="Shape 12"/>
          <p:cNvSpPr/>
          <p:nvPr/>
        </p:nvSpPr>
        <p:spPr>
          <a:xfrm>
            <a:off x="6236208" y="4809744"/>
            <a:ext cx="5074920" cy="0"/>
          </a:xfrm>
          <a:prstGeom prst="line">
            <a:avLst/>
          </a:prstGeom>
          <a:noFill/>
          <a:ln w="25400">
            <a:solidFill>
              <a:srgbClr val="2563EB"/>
            </a:solidFill>
            <a:prstDash val="solid"/>
          </a:ln>
        </p:spPr>
      </p:sp>
      <p:sp>
        <p:nvSpPr>
          <p:cNvPr id="16" name="Text 13"/>
          <p:cNvSpPr/>
          <p:nvPr/>
        </p:nvSpPr>
        <p:spPr>
          <a:xfrm>
            <a:off x="6236208" y="5349240"/>
            <a:ext cx="4983480" cy="320040"/>
          </a:xfrm>
          <a:prstGeom prst="rect">
            <a:avLst/>
          </a:prstGeom>
          <a:noFill/>
          <a:ln/>
        </p:spPr>
        <p:txBody>
          <a:bodyPr wrap="square" lIns="254" tIns="254" rIns="254" bIns="254" rtlCol="0" anchor="t">
            <a:normAutofit/>
          </a:bodyPr>
          <a:lstStyle/>
          <a:p>
            <a:pPr algn="l" indent="0" marL="0">
              <a:buNone/>
            </a:pPr>
            <a:r>
              <a:rPr lang="en-US" sz="1520" b="1" dirty="0">
                <a:solidFill>
                  <a:srgbClr val="059669"/>
                </a:solidFill>
              </a:rPr>
              <a:t>Valor: el técnico no queda detenido por no poder acceder a documentación crítica.</a:t>
            </a:r>
            <a:endParaRPr lang="en-US" sz="15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KPIS</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Diseño 3: Reportes PDF gerenciales</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9</a:t>
            </a:r>
            <a:endParaRPr lang="en-US" sz="780" dirty="0"/>
          </a:p>
        </p:txBody>
      </p:sp>
      <p:pic>
        <p:nvPicPr>
          <p:cNvPr id="8" name="Image 0" descr="/mnt/data/barb_split/media/image15.png">    </p:cNvPr>
          <p:cNvPicPr>
            <a:picLocks noChangeAspect="1"/>
          </p:cNvPicPr>
          <p:nvPr/>
        </p:nvPicPr>
        <p:blipFill>
          <a:blip r:embed="rId1"/>
          <a:srcRect l="19521" r="19521" t="0" b="0"/>
          <a:stretch/>
        </p:blipFill>
        <p:spPr>
          <a:xfrm>
            <a:off x="594360" y="1234440"/>
            <a:ext cx="5212080" cy="1874520"/>
          </a:xfrm>
          <a:prstGeom prst="rect">
            <a:avLst/>
          </a:prstGeom>
        </p:spPr>
      </p:pic>
      <p:pic>
        <p:nvPicPr>
          <p:cNvPr id="9" name="Image 1" descr="/mnt/data/barb_split/media/image11.png">    </p:cNvPr>
          <p:cNvPicPr>
            <a:picLocks noChangeAspect="1"/>
          </p:cNvPicPr>
          <p:nvPr/>
        </p:nvPicPr>
        <p:blipFill>
          <a:blip r:embed="rId2"/>
          <a:srcRect l="0" r="0" t="18047" b="18047"/>
          <a:stretch/>
        </p:blipFill>
        <p:spPr>
          <a:xfrm>
            <a:off x="594360" y="3429000"/>
            <a:ext cx="5212080" cy="2011680"/>
          </a:xfrm>
          <a:prstGeom prst="rect">
            <a:avLst/>
          </a:prstGeom>
        </p:spPr>
      </p:pic>
      <p:sp>
        <p:nvSpPr>
          <p:cNvPr id="10" name="Text 6"/>
          <p:cNvSpPr/>
          <p:nvPr/>
        </p:nvSpPr>
        <p:spPr>
          <a:xfrm>
            <a:off x="594360" y="5623560"/>
            <a:ext cx="5212080" cy="201168"/>
          </a:xfrm>
          <a:prstGeom prst="rect">
            <a:avLst/>
          </a:prstGeom>
          <a:noFill/>
          <a:ln/>
        </p:spPr>
        <p:txBody>
          <a:bodyPr wrap="square" lIns="254" tIns="254" rIns="254" bIns="254" rtlCol="0" anchor="t">
            <a:normAutofit/>
          </a:bodyPr>
          <a:lstStyle/>
          <a:p>
            <a:pPr algn="ctr" indent="0" marL="0">
              <a:buNone/>
            </a:pPr>
            <a:r>
              <a:rPr lang="en-US" sz="950" i="1" dirty="0">
                <a:solidFill>
                  <a:srgbClr val="6B7280"/>
                </a:solidFill>
              </a:rPr>
              <a:t>AS-IS: KPIs y gráficos existentes · TO-BE: salida PDF ejecutiva</a:t>
            </a:r>
            <a:endParaRPr lang="en-US" sz="950" dirty="0"/>
          </a:p>
        </p:txBody>
      </p:sp>
      <p:sp>
        <p:nvSpPr>
          <p:cNvPr id="11" name="Text 7"/>
          <p:cNvSpPr/>
          <p:nvPr/>
        </p:nvSpPr>
        <p:spPr>
          <a:xfrm>
            <a:off x="6309360" y="1325880"/>
            <a:ext cx="4937760" cy="320040"/>
          </a:xfrm>
          <a:prstGeom prst="rect">
            <a:avLst/>
          </a:prstGeom>
          <a:noFill/>
          <a:ln/>
        </p:spPr>
        <p:txBody>
          <a:bodyPr wrap="square" lIns="254" tIns="254" rIns="254" bIns="254" rtlCol="0" anchor="t">
            <a:normAutofit/>
          </a:bodyPr>
          <a:lstStyle/>
          <a:p>
            <a:pPr algn="l" indent="0" marL="0">
              <a:buNone/>
            </a:pPr>
            <a:r>
              <a:rPr lang="en-US" sz="2000" b="1" dirty="0">
                <a:solidFill>
                  <a:srgbClr val="1F2937"/>
                </a:solidFill>
              </a:rPr>
              <a:t>Reporte ejecutivo, no solo “status”</a:t>
            </a:r>
            <a:endParaRPr lang="en-US" sz="2000" dirty="0"/>
          </a:p>
        </p:txBody>
      </p:sp>
      <p:sp>
        <p:nvSpPr>
          <p:cNvPr id="12" name="Text 8"/>
          <p:cNvSpPr/>
          <p:nvPr/>
        </p:nvSpPr>
        <p:spPr>
          <a:xfrm>
            <a:off x="6355080" y="1965960"/>
            <a:ext cx="521208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KPIs: MTTR, MTBF, eficiencia, costos, OTs e incidencias.</a:t>
            </a:r>
            <a:endParaRPr lang="en-US" sz="1300" dirty="0"/>
          </a:p>
        </p:txBody>
      </p:sp>
      <p:sp>
        <p:nvSpPr>
          <p:cNvPr id="13" name="Text 9"/>
          <p:cNvSpPr/>
          <p:nvPr/>
        </p:nvSpPr>
        <p:spPr>
          <a:xfrm>
            <a:off x="6355080" y="2331720"/>
            <a:ext cx="521208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Tendencias, rankings y lectura gerencial.</a:t>
            </a:r>
            <a:endParaRPr lang="en-US" sz="1300" dirty="0"/>
          </a:p>
        </p:txBody>
      </p:sp>
      <p:sp>
        <p:nvSpPr>
          <p:cNvPr id="14" name="Text 10"/>
          <p:cNvSpPr/>
          <p:nvPr/>
        </p:nvSpPr>
        <p:spPr>
          <a:xfrm>
            <a:off x="6355080" y="2697480"/>
            <a:ext cx="521208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Filtros por período, planta/site, piso/zona, máquina, status, incidente u OT.</a:t>
            </a:r>
            <a:endParaRPr lang="en-US" sz="1300" dirty="0"/>
          </a:p>
        </p:txBody>
      </p:sp>
      <p:sp>
        <p:nvSpPr>
          <p:cNvPr id="15" name="Text 11"/>
          <p:cNvSpPr/>
          <p:nvPr/>
        </p:nvSpPr>
        <p:spPr>
          <a:xfrm>
            <a:off x="6355080" y="3182112"/>
            <a:ext cx="521208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PDF descargable para reuniones, correo y seguimiento.</a:t>
            </a:r>
            <a:endParaRPr lang="en-US" sz="1300" dirty="0"/>
          </a:p>
        </p:txBody>
      </p:sp>
      <p:sp>
        <p:nvSpPr>
          <p:cNvPr id="16" name="Text 12"/>
          <p:cNvSpPr/>
          <p:nvPr/>
        </p:nvSpPr>
        <p:spPr>
          <a:xfrm>
            <a:off x="6355080" y="4251960"/>
            <a:ext cx="4800600" cy="914400"/>
          </a:xfrm>
          <a:prstGeom prst="rect">
            <a:avLst/>
          </a:prstGeom>
          <a:solidFill>
            <a:srgbClr val="FFF2E1"/>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Resultado esperado</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Un informe formal que convierta los datos operacionales en información útil para jefaturas y gerencia.</a:t>
            </a:r>
            <a:endParaRPr lang="en-US" sz="1220" dirty="0"/>
          </a:p>
        </p:txBody>
      </p:sp>
      <p:sp>
        <p:nvSpPr>
          <p:cNvPr id="17" name="Shape 13"/>
          <p:cNvSpPr/>
          <p:nvPr/>
        </p:nvSpPr>
        <p:spPr>
          <a:xfrm>
            <a:off x="6355080" y="5129784"/>
            <a:ext cx="4800600" cy="0"/>
          </a:xfrm>
          <a:prstGeom prst="line">
            <a:avLst/>
          </a:prstGeom>
          <a:noFill/>
          <a:ln w="25400">
            <a:solidFill>
              <a:srgbClr val="E0780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TRAZABILIDAD</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Diseño 4: Auditoría funcional</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10</a:t>
            </a:r>
            <a:endParaRPr lang="en-US" sz="780" dirty="0"/>
          </a:p>
        </p:txBody>
      </p:sp>
      <p:pic>
        <p:nvPicPr>
          <p:cNvPr id="8" name="Image 0" descr="/mnt/data/barb_split/media/image22.png">    </p:cNvPr>
          <p:cNvPicPr>
            <a:picLocks noChangeAspect="1"/>
          </p:cNvPicPr>
          <p:nvPr/>
        </p:nvPicPr>
        <p:blipFill>
          <a:blip r:embed="rId1"/>
          <a:srcRect l="4922" r="4922" t="0" b="0"/>
          <a:stretch/>
        </p:blipFill>
        <p:spPr>
          <a:xfrm>
            <a:off x="594360" y="1234440"/>
            <a:ext cx="5074920" cy="1874520"/>
          </a:xfrm>
          <a:prstGeom prst="rect">
            <a:avLst/>
          </a:prstGeom>
        </p:spPr>
      </p:pic>
      <p:pic>
        <p:nvPicPr>
          <p:cNvPr id="9" name="Image 1" descr="/mnt/data/barb_split/media/image20.png">    </p:cNvPr>
          <p:cNvPicPr>
            <a:picLocks noChangeAspect="1"/>
          </p:cNvPicPr>
          <p:nvPr/>
        </p:nvPicPr>
        <p:blipFill>
          <a:blip r:embed="rId2"/>
          <a:srcRect l="0" r="0" t="23312" b="23312"/>
          <a:stretch/>
        </p:blipFill>
        <p:spPr>
          <a:xfrm>
            <a:off x="594360" y="3429000"/>
            <a:ext cx="5074920" cy="1874520"/>
          </a:xfrm>
          <a:prstGeom prst="rect">
            <a:avLst/>
          </a:prstGeom>
        </p:spPr>
      </p:pic>
      <p:sp>
        <p:nvSpPr>
          <p:cNvPr id="10" name="Text 6"/>
          <p:cNvSpPr/>
          <p:nvPr/>
        </p:nvSpPr>
        <p:spPr>
          <a:xfrm>
            <a:off x="594360" y="5577840"/>
            <a:ext cx="5074920" cy="219456"/>
          </a:xfrm>
          <a:prstGeom prst="rect">
            <a:avLst/>
          </a:prstGeom>
          <a:noFill/>
          <a:ln/>
        </p:spPr>
        <p:txBody>
          <a:bodyPr wrap="square" lIns="254" tIns="254" rIns="254" bIns="254" rtlCol="0" anchor="t">
            <a:normAutofit/>
          </a:bodyPr>
          <a:lstStyle/>
          <a:p>
            <a:pPr algn="ctr" indent="0" marL="0">
              <a:buNone/>
            </a:pPr>
            <a:r>
              <a:rPr lang="en-US" sz="950" i="1" dirty="0">
                <a:solidFill>
                  <a:srgbClr val="6B7280"/>
                </a:solidFill>
              </a:rPr>
              <a:t>Historial y carga documental como procesos base a auditar</a:t>
            </a:r>
            <a:endParaRPr lang="en-US" sz="950" dirty="0"/>
          </a:p>
        </p:txBody>
      </p:sp>
      <p:sp>
        <p:nvSpPr>
          <p:cNvPr id="11" name="Text 7"/>
          <p:cNvSpPr/>
          <p:nvPr/>
        </p:nvSpPr>
        <p:spPr>
          <a:xfrm>
            <a:off x="6199632" y="1234440"/>
            <a:ext cx="4389120" cy="320040"/>
          </a:xfrm>
          <a:prstGeom prst="rect">
            <a:avLst/>
          </a:prstGeom>
          <a:noFill/>
          <a:ln/>
        </p:spPr>
        <p:txBody>
          <a:bodyPr wrap="square" lIns="254" tIns="254" rIns="254" bIns="254" rtlCol="0" anchor="t">
            <a:normAutofit/>
          </a:bodyPr>
          <a:lstStyle/>
          <a:p>
            <a:pPr algn="l" indent="0" marL="0">
              <a:buNone/>
            </a:pPr>
            <a:r>
              <a:rPr lang="en-US" sz="2000" b="1" dirty="0">
                <a:solidFill>
                  <a:srgbClr val="1F2937"/>
                </a:solidFill>
              </a:rPr>
              <a:t>Cobertura obligatoria</a:t>
            </a:r>
            <a:endParaRPr lang="en-US" sz="2000" dirty="0"/>
          </a:p>
        </p:txBody>
      </p:sp>
      <p:sp>
        <p:nvSpPr>
          <p:cNvPr id="12" name="Text 8"/>
          <p:cNvSpPr/>
          <p:nvPr/>
        </p:nvSpPr>
        <p:spPr>
          <a:xfrm>
            <a:off x="6199632" y="1874520"/>
            <a:ext cx="2377440" cy="1051560"/>
          </a:xfrm>
          <a:prstGeom prst="rect">
            <a:avLst/>
          </a:prstGeom>
          <a:solidFill>
            <a:srgbClr val="FDECEC"/>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OT</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Creación, asignación, estados, comentarios, adjuntos, cierre y eliminación lógica.</a:t>
            </a:r>
            <a:endParaRPr lang="en-US" sz="1220" dirty="0"/>
          </a:p>
        </p:txBody>
      </p:sp>
      <p:sp>
        <p:nvSpPr>
          <p:cNvPr id="13" name="Shape 9"/>
          <p:cNvSpPr/>
          <p:nvPr/>
        </p:nvSpPr>
        <p:spPr>
          <a:xfrm>
            <a:off x="6199632" y="2889504"/>
            <a:ext cx="2377440" cy="0"/>
          </a:xfrm>
          <a:prstGeom prst="line">
            <a:avLst/>
          </a:prstGeom>
          <a:noFill/>
          <a:ln w="25400">
            <a:solidFill>
              <a:srgbClr val="C62828"/>
            </a:solidFill>
            <a:prstDash val="solid"/>
          </a:ln>
        </p:spPr>
      </p:sp>
      <p:sp>
        <p:nvSpPr>
          <p:cNvPr id="14" name="Text 10"/>
          <p:cNvSpPr/>
          <p:nvPr/>
        </p:nvSpPr>
        <p:spPr>
          <a:xfrm>
            <a:off x="8961120" y="1874520"/>
            <a:ext cx="2377440" cy="1051560"/>
          </a:xfrm>
          <a:prstGeom prst="rect">
            <a:avLst/>
          </a:prstGeom>
          <a:solidFill>
            <a:srgbClr val="EAF2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Usuarios</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Creación, cambios, permisos, activación, desactivación y roles.</a:t>
            </a:r>
            <a:endParaRPr lang="en-US" sz="1220" dirty="0"/>
          </a:p>
        </p:txBody>
      </p:sp>
      <p:sp>
        <p:nvSpPr>
          <p:cNvPr id="15" name="Shape 11"/>
          <p:cNvSpPr/>
          <p:nvPr/>
        </p:nvSpPr>
        <p:spPr>
          <a:xfrm>
            <a:off x="8961120" y="2889504"/>
            <a:ext cx="2377440" cy="0"/>
          </a:xfrm>
          <a:prstGeom prst="line">
            <a:avLst/>
          </a:prstGeom>
          <a:noFill/>
          <a:ln w="25400">
            <a:solidFill>
              <a:srgbClr val="2563EB"/>
            </a:solidFill>
            <a:prstDash val="solid"/>
          </a:ln>
        </p:spPr>
      </p:sp>
      <p:sp>
        <p:nvSpPr>
          <p:cNvPr id="16" name="Text 12"/>
          <p:cNvSpPr/>
          <p:nvPr/>
        </p:nvSpPr>
        <p:spPr>
          <a:xfrm>
            <a:off x="6199632" y="3337560"/>
            <a:ext cx="2377440" cy="1051560"/>
          </a:xfrm>
          <a:prstGeom prst="rect">
            <a:avLst/>
          </a:prstGeom>
          <a:solidFill>
            <a:srgbClr val="E9F8F1"/>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Información</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Cargas, descargas, altas, bajas y modificaciones críticas.</a:t>
            </a:r>
            <a:endParaRPr lang="en-US" sz="1220" dirty="0"/>
          </a:p>
        </p:txBody>
      </p:sp>
      <p:sp>
        <p:nvSpPr>
          <p:cNvPr id="17" name="Shape 13"/>
          <p:cNvSpPr/>
          <p:nvPr/>
        </p:nvSpPr>
        <p:spPr>
          <a:xfrm>
            <a:off x="6199632" y="4352544"/>
            <a:ext cx="2377440" cy="0"/>
          </a:xfrm>
          <a:prstGeom prst="line">
            <a:avLst/>
          </a:prstGeom>
          <a:noFill/>
          <a:ln w="25400">
            <a:solidFill>
              <a:srgbClr val="059669"/>
            </a:solidFill>
            <a:prstDash val="solid"/>
          </a:ln>
        </p:spPr>
      </p:sp>
      <p:sp>
        <p:nvSpPr>
          <p:cNvPr id="18" name="Text 14"/>
          <p:cNvSpPr/>
          <p:nvPr/>
        </p:nvSpPr>
        <p:spPr>
          <a:xfrm>
            <a:off x="8961120" y="3337560"/>
            <a:ext cx="2377440" cy="105156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Datos del log</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Usuario, tenant, fecha/hora, acción, entidad, resultado e IP/metadata.</a:t>
            </a:r>
            <a:endParaRPr lang="en-US" sz="1220" dirty="0"/>
          </a:p>
        </p:txBody>
      </p:sp>
      <p:sp>
        <p:nvSpPr>
          <p:cNvPr id="19" name="Shape 15"/>
          <p:cNvSpPr/>
          <p:nvPr/>
        </p:nvSpPr>
        <p:spPr>
          <a:xfrm>
            <a:off x="8961120" y="4352544"/>
            <a:ext cx="2377440" cy="0"/>
          </a:xfrm>
          <a:prstGeom prst="line">
            <a:avLst/>
          </a:prstGeom>
          <a:noFill/>
          <a:ln w="25400">
            <a:solidFill>
              <a:srgbClr val="6D28D9"/>
            </a:solidFill>
            <a:prstDash val="solid"/>
          </a:ln>
        </p:spPr>
      </p:sp>
      <p:sp>
        <p:nvSpPr>
          <p:cNvPr id="20" name="Text 16"/>
          <p:cNvSpPr/>
          <p:nvPr/>
        </p:nvSpPr>
        <p:spPr>
          <a:xfrm>
            <a:off x="6236208" y="5166360"/>
            <a:ext cx="5120640" cy="411480"/>
          </a:xfrm>
          <a:prstGeom prst="rect">
            <a:avLst/>
          </a:prstGeom>
          <a:noFill/>
          <a:ln/>
        </p:spPr>
        <p:txBody>
          <a:bodyPr wrap="square" lIns="254" tIns="254" rIns="254" bIns="254" rtlCol="0" anchor="t">
            <a:normAutofit/>
          </a:bodyPr>
          <a:lstStyle/>
          <a:p>
            <a:pPr algn="l" indent="0" marL="0">
              <a:buNone/>
            </a:pPr>
            <a:r>
              <a:rPr lang="en-US" sz="1530" b="1" dirty="0">
                <a:solidFill>
                  <a:srgbClr val="1F4E79"/>
                </a:solidFill>
              </a:rPr>
              <a:t>Valor: saber quién hizo qué, cuándo, sobre qué registro y desde qué contexto.</a:t>
            </a:r>
            <a:endParaRPr lang="en-US" sz="15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320040" y="201168"/>
            <a:ext cx="777240" cy="292608"/>
          </a:xfrm>
          <a:prstGeom prst="rect">
            <a:avLst/>
          </a:prstGeom>
          <a:solidFill>
            <a:srgbClr val="E07800"/>
          </a:solidFill>
          <a:ln>
            <a:solidFill>
              <a:srgbClr val="E07800"/>
            </a:solidFill>
          </a:ln>
        </p:spPr>
        <p:txBody>
          <a:bodyPr wrap="square" lIns="254" tIns="254" rIns="254" bIns="254"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BARB</a:t>
            </a:r>
            <a:endParaRPr lang="en-US" sz="1600" dirty="0"/>
          </a:p>
        </p:txBody>
      </p:sp>
      <p:sp>
        <p:nvSpPr>
          <p:cNvPr id="3" name="Text 1"/>
          <p:cNvSpPr/>
          <p:nvPr/>
        </p:nvSpPr>
        <p:spPr>
          <a:xfrm>
            <a:off x="1234440" y="109728"/>
            <a:ext cx="2834640" cy="146304"/>
          </a:xfrm>
          <a:prstGeom prst="rect">
            <a:avLst/>
          </a:prstGeom>
          <a:noFill/>
          <a:ln/>
        </p:spPr>
        <p:txBody>
          <a:bodyPr wrap="square" lIns="0" tIns="0" rIns="0" bIns="0" rtlCol="0" anchor="ctr"/>
          <a:lstStyle/>
          <a:p>
            <a:pPr indent="0" marL="0">
              <a:buNone/>
            </a:pPr>
            <a:r>
              <a:rPr lang="en-US" sz="780" b="1" dirty="0">
                <a:solidFill>
                  <a:srgbClr val="6B7280"/>
                </a:solidFill>
                <a:latin typeface="Calibri" pitchFamily="34" charset="0"/>
                <a:ea typeface="Calibri" pitchFamily="34" charset="-122"/>
                <a:cs typeface="Calibri" pitchFamily="34" charset="-120"/>
              </a:rPr>
              <a:t>GESTIÓN</a:t>
            </a:r>
            <a:endParaRPr lang="en-US" sz="780" dirty="0"/>
          </a:p>
        </p:txBody>
      </p:sp>
      <p:sp>
        <p:nvSpPr>
          <p:cNvPr id="4" name="Text 2"/>
          <p:cNvSpPr/>
          <p:nvPr/>
        </p:nvSpPr>
        <p:spPr>
          <a:xfrm>
            <a:off x="1234440" y="365760"/>
            <a:ext cx="9966960" cy="310896"/>
          </a:xfrm>
          <a:prstGeom prst="rect">
            <a:avLst/>
          </a:prstGeom>
          <a:noFill/>
          <a:ln/>
        </p:spPr>
        <p:txBody>
          <a:bodyPr wrap="square" lIns="0" tIns="0" rIns="0" bIns="0" rtlCol="0" anchor="ctr"/>
          <a:lstStyle/>
          <a:p>
            <a:pPr indent="0" marL="0">
              <a:buNone/>
            </a:pPr>
            <a:r>
              <a:rPr lang="en-US" sz="1850" b="1" dirty="0">
                <a:solidFill>
                  <a:srgbClr val="1F2937"/>
                </a:solidFill>
                <a:latin typeface="Calibri" pitchFamily="34" charset="0"/>
                <a:ea typeface="Calibri" pitchFamily="34" charset="-122"/>
                <a:cs typeface="Calibri" pitchFamily="34" charset="-120"/>
              </a:rPr>
              <a:t>Plan de trabajo y cierre</a:t>
            </a:r>
            <a:endParaRPr lang="en-US" sz="1850" dirty="0"/>
          </a:p>
        </p:txBody>
      </p:sp>
      <p:sp>
        <p:nvSpPr>
          <p:cNvPr id="5" name="Shape 3"/>
          <p:cNvSpPr/>
          <p:nvPr/>
        </p:nvSpPr>
        <p:spPr>
          <a:xfrm>
            <a:off x="320040" y="786384"/>
            <a:ext cx="11567160" cy="0"/>
          </a:xfrm>
          <a:prstGeom prst="line">
            <a:avLst/>
          </a:prstGeom>
          <a:noFill/>
          <a:ln w="12700">
            <a:solidFill>
              <a:srgbClr val="DED8CF"/>
            </a:solidFill>
            <a:prstDash val="solid"/>
          </a:ln>
        </p:spPr>
      </p:sp>
      <p:sp>
        <p:nvSpPr>
          <p:cNvPr id="6" name="Text 4"/>
          <p:cNvSpPr/>
          <p:nvPr/>
        </p:nvSpPr>
        <p:spPr>
          <a:xfrm>
            <a:off x="320040" y="6473952"/>
            <a:ext cx="6217920" cy="164592"/>
          </a:xfrm>
          <a:prstGeom prst="rect">
            <a:avLst/>
          </a:prstGeom>
          <a:noFill/>
          <a:ln/>
        </p:spPr>
        <p:txBody>
          <a:bodyPr wrap="square" lIns="0" tIns="0" rIns="0" bIns="0" rtlCol="0" anchor="ctr"/>
          <a:lstStyle/>
          <a:p>
            <a:pPr indent="0" marL="0">
              <a:buNone/>
            </a:pPr>
            <a:r>
              <a:rPr lang="en-US" sz="780" dirty="0">
                <a:solidFill>
                  <a:srgbClr val="6B7280"/>
                </a:solidFill>
              </a:rPr>
              <a:t>BARB | Capstone Ingeniería en Informática | Fase 1</a:t>
            </a:r>
            <a:endParaRPr lang="en-US" sz="780" dirty="0"/>
          </a:p>
        </p:txBody>
      </p:sp>
      <p:sp>
        <p:nvSpPr>
          <p:cNvPr id="7" name="Text 5"/>
          <p:cNvSpPr/>
          <p:nvPr/>
        </p:nvSpPr>
        <p:spPr>
          <a:xfrm>
            <a:off x="11567160" y="6455664"/>
            <a:ext cx="274320" cy="164592"/>
          </a:xfrm>
          <a:prstGeom prst="rect">
            <a:avLst/>
          </a:prstGeom>
          <a:noFill/>
          <a:ln/>
        </p:spPr>
        <p:txBody>
          <a:bodyPr wrap="square" lIns="0" tIns="0" rIns="0" bIns="0" rtlCol="0" anchor="ctr"/>
          <a:lstStyle/>
          <a:p>
            <a:pPr algn="r" indent="0" marL="0">
              <a:buNone/>
            </a:pPr>
            <a:r>
              <a:rPr lang="en-US" sz="780" dirty="0">
                <a:solidFill>
                  <a:srgbClr val="6B7280"/>
                </a:solidFill>
              </a:rPr>
              <a:t>11</a:t>
            </a:r>
            <a:endParaRPr lang="en-US" sz="780" dirty="0"/>
          </a:p>
        </p:txBody>
      </p:sp>
      <p:sp>
        <p:nvSpPr>
          <p:cNvPr id="8" name="Text 6"/>
          <p:cNvSpPr/>
          <p:nvPr/>
        </p:nvSpPr>
        <p:spPr>
          <a:xfrm>
            <a:off x="594360" y="1024128"/>
            <a:ext cx="5303520" cy="329184"/>
          </a:xfrm>
          <a:prstGeom prst="rect">
            <a:avLst/>
          </a:prstGeom>
          <a:noFill/>
          <a:ln/>
        </p:spPr>
        <p:txBody>
          <a:bodyPr wrap="square" lIns="254" tIns="254" rIns="254" bIns="254" rtlCol="0" anchor="t">
            <a:normAutofit/>
          </a:bodyPr>
          <a:lstStyle/>
          <a:p>
            <a:pPr algn="l" indent="0" marL="0">
              <a:buNone/>
            </a:pPr>
            <a:r>
              <a:rPr lang="en-US" sz="2000" b="1" dirty="0">
                <a:solidFill>
                  <a:srgbClr val="1F2937"/>
                </a:solidFill>
              </a:rPr>
              <a:t>Metodología: Incremental + Scrumban</a:t>
            </a:r>
            <a:endParaRPr lang="en-US" sz="2000" dirty="0"/>
          </a:p>
        </p:txBody>
      </p:sp>
      <p:sp>
        <p:nvSpPr>
          <p:cNvPr id="9" name="Text 7"/>
          <p:cNvSpPr/>
          <p:nvPr/>
        </p:nvSpPr>
        <p:spPr>
          <a:xfrm>
            <a:off x="594360" y="1737360"/>
            <a:ext cx="356616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Gobierno</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Luis Ovalle lidera el proyecto, documentación y repositorio/fork privado.</a:t>
            </a:r>
            <a:endParaRPr lang="en-US" sz="1220" dirty="0"/>
          </a:p>
        </p:txBody>
      </p:sp>
      <p:sp>
        <p:nvSpPr>
          <p:cNvPr id="10" name="Shape 8"/>
          <p:cNvSpPr/>
          <p:nvPr/>
        </p:nvSpPr>
        <p:spPr>
          <a:xfrm>
            <a:off x="594360" y="2569464"/>
            <a:ext cx="3566160" cy="0"/>
          </a:xfrm>
          <a:prstGeom prst="line">
            <a:avLst/>
          </a:prstGeom>
          <a:noFill/>
          <a:ln w="25400">
            <a:solidFill>
              <a:srgbClr val="2563EB"/>
            </a:solidFill>
            <a:prstDash val="solid"/>
          </a:ln>
        </p:spPr>
      </p:sp>
      <p:sp>
        <p:nvSpPr>
          <p:cNvPr id="11" name="Text 9"/>
          <p:cNvSpPr/>
          <p:nvPr/>
        </p:nvSpPr>
        <p:spPr>
          <a:xfrm>
            <a:off x="4480560" y="1737360"/>
            <a:ext cx="356616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Cadencia</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Reunión semanal jueves 11:00 + coordinación técnica por WhatsApp.</a:t>
            </a:r>
            <a:endParaRPr lang="en-US" sz="1220" dirty="0"/>
          </a:p>
        </p:txBody>
      </p:sp>
      <p:sp>
        <p:nvSpPr>
          <p:cNvPr id="12" name="Shape 10"/>
          <p:cNvSpPr/>
          <p:nvPr/>
        </p:nvSpPr>
        <p:spPr>
          <a:xfrm>
            <a:off x="4480560" y="2569464"/>
            <a:ext cx="3566160" cy="0"/>
          </a:xfrm>
          <a:prstGeom prst="line">
            <a:avLst/>
          </a:prstGeom>
          <a:noFill/>
          <a:ln w="25400">
            <a:solidFill>
              <a:srgbClr val="059669"/>
            </a:solidFill>
            <a:prstDash val="solid"/>
          </a:ln>
        </p:spPr>
      </p:sp>
      <p:sp>
        <p:nvSpPr>
          <p:cNvPr id="13" name="Text 11"/>
          <p:cNvSpPr/>
          <p:nvPr/>
        </p:nvSpPr>
        <p:spPr>
          <a:xfrm>
            <a:off x="8366760" y="1737360"/>
            <a:ext cx="3108960" cy="868680"/>
          </a:xfrm>
          <a:prstGeom prst="rect">
            <a:avLst/>
          </a:prstGeom>
          <a:solidFill>
            <a:srgbClr val="FFFFFF"/>
          </a:solidFill>
          <a:ln w="12700">
            <a:solidFill>
              <a:srgbClr val="D9D3C9"/>
            </a:solidFill>
          </a:ln>
        </p:spPr>
        <p:txBody>
          <a:bodyPr wrap="square" lIns="1524" tIns="1524" rIns="1524" bIns="1524" rtlCol="0" anchor="t">
            <a:normAutofit/>
          </a:bodyPr>
          <a:lstStyle/>
          <a:p>
            <a:pPr indent="0" marL="0">
              <a:buNone/>
            </a:pPr>
            <a:r>
              <a:rPr lang="en-US" sz="1220" b="1" dirty="0">
                <a:solidFill>
                  <a:srgbClr val="1F2937"/>
                </a:solidFill>
                <a:latin typeface="Calibri" pitchFamily="34" charset="0"/>
                <a:ea typeface="Calibri" pitchFamily="34" charset="-122"/>
                <a:cs typeface="Calibri" pitchFamily="34" charset="-120"/>
              </a:rPr>
              <a:t>Flujo</a:t>
            </a:r>
            <a:pPr indent="0" marL="0">
              <a:buNone/>
            </a:pPr>
            <a:endParaRPr lang="en-US" sz="1220" dirty="0"/>
          </a:p>
          <a:p>
            <a:pPr indent="0" marL="0">
              <a:buNone/>
            </a:pPr>
            <a:r>
              <a:rPr lang="en-US" sz="1220" dirty="0">
                <a:solidFill>
                  <a:srgbClr val="1F2937"/>
                </a:solidFill>
                <a:latin typeface="Calibri" pitchFamily="34" charset="0"/>
                <a:ea typeface="Calibri" pitchFamily="34" charset="-122"/>
                <a:cs typeface="Calibri" pitchFamily="34" charset="-120"/>
              </a:rPr>
              <a:t>Backlog → Por hacer → En progreso → Revisión → Pruebas → Hecho.</a:t>
            </a:r>
            <a:endParaRPr lang="en-US" sz="1220" dirty="0"/>
          </a:p>
        </p:txBody>
      </p:sp>
      <p:sp>
        <p:nvSpPr>
          <p:cNvPr id="14" name="Shape 12"/>
          <p:cNvSpPr/>
          <p:nvPr/>
        </p:nvSpPr>
        <p:spPr>
          <a:xfrm>
            <a:off x="8366760" y="2569464"/>
            <a:ext cx="3108960" cy="0"/>
          </a:xfrm>
          <a:prstGeom prst="line">
            <a:avLst/>
          </a:prstGeom>
          <a:noFill/>
          <a:ln w="25400">
            <a:solidFill>
              <a:srgbClr val="E07800"/>
            </a:solidFill>
            <a:prstDash val="solid"/>
          </a:ln>
        </p:spPr>
      </p:sp>
      <p:sp>
        <p:nvSpPr>
          <p:cNvPr id="15" name="Text 13"/>
          <p:cNvSpPr/>
          <p:nvPr/>
        </p:nvSpPr>
        <p:spPr>
          <a:xfrm>
            <a:off x="640080" y="3108960"/>
            <a:ext cx="1828800" cy="164592"/>
          </a:xfrm>
          <a:prstGeom prst="rect">
            <a:avLst/>
          </a:prstGeom>
          <a:noFill/>
          <a:ln/>
        </p:spPr>
        <p:txBody>
          <a:bodyPr wrap="square" lIns="0" tIns="0" rIns="0" bIns="0" rtlCol="0" anchor="ctr"/>
          <a:lstStyle/>
          <a:p>
            <a:pPr indent="0" marL="0">
              <a:buNone/>
            </a:pPr>
            <a:r>
              <a:rPr lang="en-US" sz="800" b="1" dirty="0">
                <a:solidFill>
                  <a:srgbClr val="6D28D9"/>
                </a:solidFill>
              </a:rPr>
              <a:t>INCREMENTOS</a:t>
            </a:r>
            <a:endParaRPr lang="en-US" sz="800" dirty="0"/>
          </a:p>
        </p:txBody>
      </p:sp>
      <p:sp>
        <p:nvSpPr>
          <p:cNvPr id="16" name="Text 14"/>
          <p:cNvSpPr/>
          <p:nvPr/>
        </p:nvSpPr>
        <p:spPr>
          <a:xfrm>
            <a:off x="658368" y="3703320"/>
            <a:ext cx="411480" cy="411480"/>
          </a:xfrm>
          <a:prstGeom prst="rect">
            <a:avLst/>
          </a:prstGeom>
          <a:solidFill>
            <a:srgbClr val="2563EB"/>
          </a:solidFill>
          <a:ln>
            <a:solidFill>
              <a:srgbClr val="2563EB"/>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7" name="Text 15"/>
          <p:cNvSpPr/>
          <p:nvPr/>
        </p:nvSpPr>
        <p:spPr>
          <a:xfrm>
            <a:off x="1161288" y="3739896"/>
            <a:ext cx="1234440" cy="310896"/>
          </a:xfrm>
          <a:prstGeom prst="rect">
            <a:avLst/>
          </a:prstGeom>
          <a:noFill/>
          <a:ln/>
        </p:spPr>
        <p:txBody>
          <a:bodyPr wrap="square" lIns="254" tIns="254" rIns="254" bIns="254" rtlCol="0" anchor="t">
            <a:normAutofit/>
          </a:bodyPr>
          <a:lstStyle/>
          <a:p>
            <a:pPr algn="l" indent="0" marL="0">
              <a:buNone/>
            </a:pPr>
            <a:r>
              <a:rPr lang="en-US" sz="1050" b="1" dirty="0">
                <a:solidFill>
                  <a:srgbClr val="1F2937"/>
                </a:solidFill>
              </a:rPr>
              <a:t>Diseño / validación</a:t>
            </a:r>
            <a:endParaRPr lang="en-US" sz="1050" dirty="0"/>
          </a:p>
        </p:txBody>
      </p:sp>
      <p:sp>
        <p:nvSpPr>
          <p:cNvPr id="18" name="Shape 16"/>
          <p:cNvSpPr/>
          <p:nvPr/>
        </p:nvSpPr>
        <p:spPr>
          <a:xfrm>
            <a:off x="2350008" y="3913632"/>
            <a:ext cx="256032" cy="0"/>
          </a:xfrm>
          <a:prstGeom prst="line">
            <a:avLst/>
          </a:prstGeom>
          <a:noFill/>
          <a:ln w="15240">
            <a:solidFill>
              <a:srgbClr val="BFB8AF"/>
            </a:solidFill>
            <a:prstDash val="solid"/>
            <a:headEnd type="none"/>
            <a:tailEnd type="triangle"/>
          </a:ln>
        </p:spPr>
      </p:sp>
      <p:sp>
        <p:nvSpPr>
          <p:cNvPr id="19" name="Text 17"/>
          <p:cNvSpPr/>
          <p:nvPr/>
        </p:nvSpPr>
        <p:spPr>
          <a:xfrm>
            <a:off x="2578608" y="3703320"/>
            <a:ext cx="411480" cy="411480"/>
          </a:xfrm>
          <a:prstGeom prst="rect">
            <a:avLst/>
          </a:prstGeom>
          <a:solidFill>
            <a:srgbClr val="059669"/>
          </a:solidFill>
          <a:ln>
            <a:solidFill>
              <a:srgbClr val="059669"/>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0" name="Text 18"/>
          <p:cNvSpPr/>
          <p:nvPr/>
        </p:nvSpPr>
        <p:spPr>
          <a:xfrm>
            <a:off x="3081528" y="3739896"/>
            <a:ext cx="1234440" cy="310896"/>
          </a:xfrm>
          <a:prstGeom prst="rect">
            <a:avLst/>
          </a:prstGeom>
          <a:noFill/>
          <a:ln/>
        </p:spPr>
        <p:txBody>
          <a:bodyPr wrap="square" lIns="254" tIns="254" rIns="254" bIns="254" rtlCol="0" anchor="t">
            <a:normAutofit/>
          </a:bodyPr>
          <a:lstStyle/>
          <a:p>
            <a:pPr algn="l" indent="0" marL="0">
              <a:buNone/>
            </a:pPr>
            <a:r>
              <a:rPr lang="en-US" sz="1050" b="1" dirty="0">
                <a:solidFill>
                  <a:srgbClr val="1F2937"/>
                </a:solidFill>
              </a:rPr>
              <a:t>PWA</a:t>
            </a:r>
            <a:endParaRPr lang="en-US" sz="1050" dirty="0"/>
          </a:p>
        </p:txBody>
      </p:sp>
      <p:sp>
        <p:nvSpPr>
          <p:cNvPr id="21" name="Shape 19"/>
          <p:cNvSpPr/>
          <p:nvPr/>
        </p:nvSpPr>
        <p:spPr>
          <a:xfrm>
            <a:off x="4270248" y="3913632"/>
            <a:ext cx="256032" cy="0"/>
          </a:xfrm>
          <a:prstGeom prst="line">
            <a:avLst/>
          </a:prstGeom>
          <a:noFill/>
          <a:ln w="15240">
            <a:solidFill>
              <a:srgbClr val="BFB8AF"/>
            </a:solidFill>
            <a:prstDash val="solid"/>
            <a:headEnd type="none"/>
            <a:tailEnd type="triangle"/>
          </a:ln>
        </p:spPr>
      </p:sp>
      <p:sp>
        <p:nvSpPr>
          <p:cNvPr id="22" name="Text 20"/>
          <p:cNvSpPr/>
          <p:nvPr/>
        </p:nvSpPr>
        <p:spPr>
          <a:xfrm>
            <a:off x="4498848" y="3703320"/>
            <a:ext cx="411480" cy="411480"/>
          </a:xfrm>
          <a:prstGeom prst="rect">
            <a:avLst/>
          </a:prstGeom>
          <a:solidFill>
            <a:srgbClr val="6D28D9"/>
          </a:solidFill>
          <a:ln>
            <a:solidFill>
              <a:srgbClr val="6D28D9"/>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3" name="Text 21"/>
          <p:cNvSpPr/>
          <p:nvPr/>
        </p:nvSpPr>
        <p:spPr>
          <a:xfrm>
            <a:off x="5001768" y="3739896"/>
            <a:ext cx="1234440" cy="310896"/>
          </a:xfrm>
          <a:prstGeom prst="rect">
            <a:avLst/>
          </a:prstGeom>
          <a:noFill/>
          <a:ln/>
        </p:spPr>
        <p:txBody>
          <a:bodyPr wrap="square" lIns="254" tIns="254" rIns="254" bIns="254" rtlCol="0" anchor="t">
            <a:normAutofit/>
          </a:bodyPr>
          <a:lstStyle/>
          <a:p>
            <a:pPr algn="l" indent="0" marL="0">
              <a:buNone/>
            </a:pPr>
            <a:r>
              <a:rPr lang="en-US" sz="1050" b="1" dirty="0">
                <a:solidFill>
                  <a:srgbClr val="1F2937"/>
                </a:solidFill>
              </a:rPr>
              <a:t>RAG offline</a:t>
            </a:r>
            <a:endParaRPr lang="en-US" sz="1050" dirty="0"/>
          </a:p>
        </p:txBody>
      </p:sp>
      <p:sp>
        <p:nvSpPr>
          <p:cNvPr id="24" name="Shape 22"/>
          <p:cNvSpPr/>
          <p:nvPr/>
        </p:nvSpPr>
        <p:spPr>
          <a:xfrm>
            <a:off x="6190488" y="3913632"/>
            <a:ext cx="256032" cy="0"/>
          </a:xfrm>
          <a:prstGeom prst="line">
            <a:avLst/>
          </a:prstGeom>
          <a:noFill/>
          <a:ln w="15240">
            <a:solidFill>
              <a:srgbClr val="BFB8AF"/>
            </a:solidFill>
            <a:prstDash val="solid"/>
            <a:headEnd type="none"/>
            <a:tailEnd type="triangle"/>
          </a:ln>
        </p:spPr>
      </p:sp>
      <p:sp>
        <p:nvSpPr>
          <p:cNvPr id="25" name="Text 23"/>
          <p:cNvSpPr/>
          <p:nvPr/>
        </p:nvSpPr>
        <p:spPr>
          <a:xfrm>
            <a:off x="6419088" y="3703320"/>
            <a:ext cx="411480" cy="411480"/>
          </a:xfrm>
          <a:prstGeom prst="rect">
            <a:avLst/>
          </a:prstGeom>
          <a:solidFill>
            <a:srgbClr val="E07800"/>
          </a:solidFill>
          <a:ln>
            <a:solidFill>
              <a:srgbClr val="E07800"/>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6" name="Text 24"/>
          <p:cNvSpPr/>
          <p:nvPr/>
        </p:nvSpPr>
        <p:spPr>
          <a:xfrm>
            <a:off x="6922008" y="3739896"/>
            <a:ext cx="1234440" cy="310896"/>
          </a:xfrm>
          <a:prstGeom prst="rect">
            <a:avLst/>
          </a:prstGeom>
          <a:noFill/>
          <a:ln/>
        </p:spPr>
        <p:txBody>
          <a:bodyPr wrap="square" lIns="254" tIns="254" rIns="254" bIns="254" rtlCol="0" anchor="t">
            <a:normAutofit/>
          </a:bodyPr>
          <a:lstStyle/>
          <a:p>
            <a:pPr algn="l" indent="0" marL="0">
              <a:buNone/>
            </a:pPr>
            <a:r>
              <a:rPr lang="en-US" sz="1050" b="1" dirty="0">
                <a:solidFill>
                  <a:srgbClr val="1F2937"/>
                </a:solidFill>
              </a:rPr>
              <a:t>PDF KPI</a:t>
            </a:r>
            <a:endParaRPr lang="en-US" sz="1050" dirty="0"/>
          </a:p>
        </p:txBody>
      </p:sp>
      <p:sp>
        <p:nvSpPr>
          <p:cNvPr id="27" name="Shape 25"/>
          <p:cNvSpPr/>
          <p:nvPr/>
        </p:nvSpPr>
        <p:spPr>
          <a:xfrm>
            <a:off x="8110728" y="3913632"/>
            <a:ext cx="256032" cy="0"/>
          </a:xfrm>
          <a:prstGeom prst="line">
            <a:avLst/>
          </a:prstGeom>
          <a:noFill/>
          <a:ln w="15240">
            <a:solidFill>
              <a:srgbClr val="BFB8AF"/>
            </a:solidFill>
            <a:prstDash val="solid"/>
            <a:headEnd type="none"/>
            <a:tailEnd type="triangle"/>
          </a:ln>
        </p:spPr>
      </p:sp>
      <p:sp>
        <p:nvSpPr>
          <p:cNvPr id="28" name="Text 26"/>
          <p:cNvSpPr/>
          <p:nvPr/>
        </p:nvSpPr>
        <p:spPr>
          <a:xfrm>
            <a:off x="8339328" y="3703320"/>
            <a:ext cx="411480" cy="411480"/>
          </a:xfrm>
          <a:prstGeom prst="rect">
            <a:avLst/>
          </a:prstGeom>
          <a:solidFill>
            <a:srgbClr val="C62828"/>
          </a:solidFill>
          <a:ln>
            <a:solidFill>
              <a:srgbClr val="C62828"/>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9" name="Text 27"/>
          <p:cNvSpPr/>
          <p:nvPr/>
        </p:nvSpPr>
        <p:spPr>
          <a:xfrm>
            <a:off x="8842248" y="3739896"/>
            <a:ext cx="1234440" cy="310896"/>
          </a:xfrm>
          <a:prstGeom prst="rect">
            <a:avLst/>
          </a:prstGeom>
          <a:noFill/>
          <a:ln/>
        </p:spPr>
        <p:txBody>
          <a:bodyPr wrap="square" lIns="254" tIns="254" rIns="254" bIns="254" rtlCol="0" anchor="t">
            <a:normAutofit/>
          </a:bodyPr>
          <a:lstStyle/>
          <a:p>
            <a:pPr algn="l" indent="0" marL="0">
              <a:buNone/>
            </a:pPr>
            <a:r>
              <a:rPr lang="en-US" sz="1050" b="1" dirty="0">
                <a:solidFill>
                  <a:srgbClr val="1F2937"/>
                </a:solidFill>
              </a:rPr>
              <a:t>Auditoría</a:t>
            </a:r>
            <a:endParaRPr lang="en-US" sz="1050" dirty="0"/>
          </a:p>
        </p:txBody>
      </p:sp>
      <p:sp>
        <p:nvSpPr>
          <p:cNvPr id="30" name="Shape 28"/>
          <p:cNvSpPr/>
          <p:nvPr/>
        </p:nvSpPr>
        <p:spPr>
          <a:xfrm>
            <a:off x="10030968" y="3913632"/>
            <a:ext cx="256032" cy="0"/>
          </a:xfrm>
          <a:prstGeom prst="line">
            <a:avLst/>
          </a:prstGeom>
          <a:noFill/>
          <a:ln w="15240">
            <a:solidFill>
              <a:srgbClr val="BFB8AF"/>
            </a:solidFill>
            <a:prstDash val="solid"/>
            <a:headEnd type="none"/>
            <a:tailEnd type="triangle"/>
          </a:ln>
        </p:spPr>
      </p:sp>
      <p:sp>
        <p:nvSpPr>
          <p:cNvPr id="31" name="Text 29"/>
          <p:cNvSpPr/>
          <p:nvPr/>
        </p:nvSpPr>
        <p:spPr>
          <a:xfrm>
            <a:off x="10259568" y="3703320"/>
            <a:ext cx="411480" cy="411480"/>
          </a:xfrm>
          <a:prstGeom prst="rect">
            <a:avLst/>
          </a:prstGeom>
          <a:solidFill>
            <a:srgbClr val="1F4E79"/>
          </a:solidFill>
          <a:ln>
            <a:solidFill>
              <a:srgbClr val="1F4E79"/>
            </a:solid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Text 30"/>
          <p:cNvSpPr/>
          <p:nvPr/>
        </p:nvSpPr>
        <p:spPr>
          <a:xfrm>
            <a:off x="10762488" y="3739896"/>
            <a:ext cx="1234440" cy="310896"/>
          </a:xfrm>
          <a:prstGeom prst="rect">
            <a:avLst/>
          </a:prstGeom>
          <a:noFill/>
          <a:ln/>
        </p:spPr>
        <p:txBody>
          <a:bodyPr wrap="square" lIns="254" tIns="254" rIns="254" bIns="254" rtlCol="0" anchor="t">
            <a:normAutofit/>
          </a:bodyPr>
          <a:lstStyle/>
          <a:p>
            <a:pPr algn="l" indent="0" marL="0">
              <a:buNone/>
            </a:pPr>
            <a:r>
              <a:rPr lang="en-US" sz="1050" b="1" dirty="0">
                <a:solidFill>
                  <a:srgbClr val="1F2937"/>
                </a:solidFill>
              </a:rPr>
              <a:t>Integración y pruebas</a:t>
            </a:r>
            <a:endParaRPr lang="en-US" sz="1050" dirty="0"/>
          </a:p>
        </p:txBody>
      </p:sp>
      <p:sp>
        <p:nvSpPr>
          <p:cNvPr id="33" name="Text 31"/>
          <p:cNvSpPr/>
          <p:nvPr/>
        </p:nvSpPr>
        <p:spPr>
          <a:xfrm>
            <a:off x="640080" y="4892040"/>
            <a:ext cx="2103120" cy="164592"/>
          </a:xfrm>
          <a:prstGeom prst="rect">
            <a:avLst/>
          </a:prstGeom>
          <a:noFill/>
          <a:ln/>
        </p:spPr>
        <p:txBody>
          <a:bodyPr wrap="square" lIns="0" tIns="0" rIns="0" bIns="0" rtlCol="0" anchor="ctr"/>
          <a:lstStyle/>
          <a:p>
            <a:pPr indent="0" marL="0">
              <a:buNone/>
            </a:pPr>
            <a:r>
              <a:rPr lang="en-US" sz="800" b="1" dirty="0">
                <a:solidFill>
                  <a:srgbClr val="059669"/>
                </a:solidFill>
              </a:rPr>
              <a:t>CIERRE PARA LA EVALUACIÓN</a:t>
            </a:r>
            <a:endParaRPr lang="en-US" sz="800" dirty="0"/>
          </a:p>
        </p:txBody>
      </p:sp>
      <p:sp>
        <p:nvSpPr>
          <p:cNvPr id="34" name="Text 32"/>
          <p:cNvSpPr/>
          <p:nvPr/>
        </p:nvSpPr>
        <p:spPr>
          <a:xfrm>
            <a:off x="685800" y="5230368"/>
            <a:ext cx="539496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BARB es un proyecto integral de ingeniería informática.</a:t>
            </a:r>
            <a:endParaRPr lang="en-US" sz="1300" dirty="0"/>
          </a:p>
        </p:txBody>
      </p:sp>
      <p:sp>
        <p:nvSpPr>
          <p:cNvPr id="35" name="Text 33"/>
          <p:cNvSpPr/>
          <p:nvPr/>
        </p:nvSpPr>
        <p:spPr>
          <a:xfrm>
            <a:off x="685800" y="5559552"/>
            <a:ext cx="594360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El equipo parte desde una base funcional y desarrolla mejoras acotadas.</a:t>
            </a:r>
            <a:endParaRPr lang="en-US" sz="1300" dirty="0"/>
          </a:p>
        </p:txBody>
      </p:sp>
      <p:sp>
        <p:nvSpPr>
          <p:cNvPr id="36" name="Text 34"/>
          <p:cNvSpPr/>
          <p:nvPr/>
        </p:nvSpPr>
        <p:spPr>
          <a:xfrm>
            <a:off x="685800" y="5888736"/>
            <a:ext cx="6583680" cy="256032"/>
          </a:xfrm>
          <a:prstGeom prst="rect">
            <a:avLst/>
          </a:prstGeom>
          <a:noFill/>
          <a:ln/>
        </p:spPr>
        <p:txBody>
          <a:bodyPr wrap="square" lIns="0" tIns="0" rIns="0" bIns="0" rtlCol="0" anchor="ctr">
            <a:normAutofit/>
          </a:bodyPr>
          <a:lstStyle/>
          <a:p>
            <a:pPr indent="0" marL="0">
              <a:buNone/>
            </a:pPr>
            <a:r>
              <a:rPr lang="en-US" sz="1300" dirty="0">
                <a:solidFill>
                  <a:srgbClr val="1F2937"/>
                </a:solidFill>
              </a:rPr>
              <a:t>• Cada incremento será trazable mediante requisitos, diseño, pruebas y evidencias.</a:t>
            </a:r>
            <a:endParaRPr lang="en-US" sz="1300" dirty="0"/>
          </a:p>
        </p:txBody>
      </p:sp>
      <p:sp>
        <p:nvSpPr>
          <p:cNvPr id="37" name="Text 35"/>
          <p:cNvSpPr/>
          <p:nvPr/>
        </p:nvSpPr>
        <p:spPr>
          <a:xfrm>
            <a:off x="6720840" y="5285232"/>
            <a:ext cx="4572000" cy="566928"/>
          </a:xfrm>
          <a:prstGeom prst="rect">
            <a:avLst/>
          </a:prstGeom>
          <a:noFill/>
          <a:ln/>
        </p:spPr>
        <p:txBody>
          <a:bodyPr wrap="square" lIns="254" tIns="254" rIns="254" bIns="254" rtlCol="0" anchor="t">
            <a:normAutofit/>
          </a:bodyPr>
          <a:lstStyle/>
          <a:p>
            <a:pPr algn="l" indent="0" marL="0">
              <a:buNone/>
            </a:pPr>
            <a:r>
              <a:rPr lang="en-US" sz="1600" b="1" dirty="0">
                <a:solidFill>
                  <a:srgbClr val="1F4E79"/>
                </a:solidFill>
              </a:rPr>
              <a:t>Mensaje final: problema → producto actual → brecha → incremento Capstone → valor → pruebas.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BARB - Plataforma Inteligente de Mantenimiento Industrial</dc:title>
  <dc:subject>Primera evaluación Capstone - BARB</dc:subject>
  <dc:creator>Equipo BARB</dc:creator>
  <cp:lastModifiedBy>Equipo BARB</cp:lastModifiedBy>
  <cp:revision>1</cp:revision>
  <dcterms:created xsi:type="dcterms:W3CDTF">2026-09-12T03:06:50Z</dcterms:created>
  <dcterms:modified xsi:type="dcterms:W3CDTF">2026-09-12T03:06:50Z</dcterms:modified>
</cp:coreProperties>
</file>